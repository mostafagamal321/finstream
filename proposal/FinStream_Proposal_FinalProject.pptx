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3" r:id="rId5"/>
    <p:sldId id="274" r:id="rId6"/>
    <p:sldId id="275" r:id="rId7"/>
    <p:sldId id="276" r:id="rId8"/>
    <p:sldId id="283" r:id="rId9"/>
    <p:sldId id="259" r:id="rId10"/>
    <p:sldId id="260" r:id="rId11"/>
    <p:sldId id="262" r:id="rId12"/>
    <p:sldId id="263" r:id="rId13"/>
    <p:sldId id="264" r:id="rId14"/>
    <p:sldId id="265" r:id="rId15"/>
    <p:sldId id="266" r:id="rId16"/>
    <p:sldId id="278" r:id="rId17"/>
    <p:sldId id="267" r:id="rId18"/>
    <p:sldId id="269" r:id="rId19"/>
    <p:sldId id="279" r:id="rId20"/>
    <p:sldId id="280" r:id="rId21"/>
    <p:sldId id="281" r:id="rId22"/>
    <p:sldId id="270" r:id="rId23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JBPbJru+oHBrJU7geVKXl0nHK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B6D277-3B14-48C6-AFF4-397AB73B0C76}">
  <a:tblStyle styleId="{48B6D277-3B14-48C6-AFF4-397AB73B0C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9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9078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8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0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0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1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14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4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1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notion.so/358ed582a88781c4b580cbc1267a7683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358ed582a88781c4b580cbc1267a7683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8F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PROPOSAL  ·  ITI – INTENSIVE CODE CAMP – FAYOUM BRANCH</a:t>
            </a:r>
            <a:endParaRPr sz="1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13366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FinStream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34147" y="19659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Financial Intelligence Platform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10344" y="2606040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11733" y="2606040"/>
            <a:ext cx="6675120" cy="40233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"From raw transaction to real-time decision in milliseconds."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10344" y="3246120"/>
            <a:ext cx="1920240" cy="9144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310344" y="329184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10,000+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310344" y="3721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Transactions / sec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2504904" y="3246120"/>
            <a:ext cx="1920240" cy="9144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2504904" y="329184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&lt;100ms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2504904" y="3721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Fraud Latency Target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4699464" y="3246120"/>
            <a:ext cx="1920240" cy="9144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4699464" y="329184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4699464" y="3721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Engineers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6894024" y="3246120"/>
            <a:ext cx="1920240" cy="9144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6894024" y="329184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6894024" y="37216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Real-life Problems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Streaming Analytics  ·  Lakehouse Architecture  ·  Real-Time ML  ·  Fraud Detection</a:t>
            </a:r>
            <a:endParaRPr/>
          </a:p>
        </p:txBody>
      </p:sp>
      <p:cxnSp>
        <p:nvCxnSpPr>
          <p:cNvPr id="109" name="Google Shape;109;p1"/>
          <p:cNvCxnSpPr/>
          <p:nvPr/>
        </p:nvCxnSpPr>
        <p:spPr>
          <a:xfrm>
            <a:off x="311733" y="3721608"/>
            <a:ext cx="191885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6812" y="3719010"/>
            <a:ext cx="193357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4707" y="3716845"/>
            <a:ext cx="193357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7356" y="3703320"/>
            <a:ext cx="193357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hlinkClick r:id="rId4"/>
            <a:extLst>
              <a:ext uri="{FF2B5EF4-FFF2-40B4-BE49-F238E27FC236}">
                <a16:creationId xmlns:a16="http://schemas.microsoft.com/office/drawing/2014/main" id="{3EB2177A-38C6-2CDA-9DC4-E356C6932137}"/>
              </a:ext>
            </a:extLst>
          </p:cNvPr>
          <p:cNvSpPr/>
          <p:nvPr/>
        </p:nvSpPr>
        <p:spPr>
          <a:xfrm>
            <a:off x="6781800" y="602825"/>
            <a:ext cx="1778000" cy="330200"/>
          </a:xfrm>
          <a:prstGeom prst="roundRect">
            <a:avLst/>
          </a:prstGeom>
          <a:solidFill>
            <a:srgbClr val="0C17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63500" rIns="152400" bIns="6350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</a:rPr>
              <a:t>Open Notion Hub</a:t>
            </a:r>
          </a:p>
        </p:txBody>
      </p:sp>
      <p:sp>
        <p:nvSpPr>
          <p:cNvPr id="3" name="Rectangle: Rounded Corners 2">
            <a:hlinkClick r:id="rId4"/>
            <a:extLst>
              <a:ext uri="{FF2B5EF4-FFF2-40B4-BE49-F238E27FC236}">
                <a16:creationId xmlns:a16="http://schemas.microsoft.com/office/drawing/2014/main" id="{7A15AF13-9DD8-7AB4-23E3-C888D4CE3754}"/>
              </a:ext>
            </a:extLst>
          </p:cNvPr>
          <p:cNvSpPr/>
          <p:nvPr/>
        </p:nvSpPr>
        <p:spPr>
          <a:xfrm>
            <a:off x="6451600" y="1016000"/>
            <a:ext cx="2235200" cy="8382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hlinkClick r:id="rId4"/>
            <a:extLst>
              <a:ext uri="{FF2B5EF4-FFF2-40B4-BE49-F238E27FC236}">
                <a16:creationId xmlns:a16="http://schemas.microsoft.com/office/drawing/2014/main" id="{280F7D35-95BF-6985-248C-0796491601CB}"/>
              </a:ext>
            </a:extLst>
          </p:cNvPr>
          <p:cNvSpPr txBox="1"/>
          <p:nvPr/>
        </p:nvSpPr>
        <p:spPr>
          <a:xfrm>
            <a:off x="6604000" y="1181100"/>
            <a:ext cx="1295400" cy="2646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0C1737"/>
                </a:solidFill>
                <a:latin typeface="Arial" panose="020B0604020202020204" pitchFamily="34" charset="0"/>
              </a:rPr>
              <a:t>Project workspace
Notion Engineering Hub</a:t>
            </a:r>
          </a:p>
        </p:txBody>
      </p:sp>
      <p:sp>
        <p:nvSpPr>
          <p:cNvPr id="5" name="TextBox 4">
            <a:hlinkClick r:id="rId4"/>
            <a:extLst>
              <a:ext uri="{FF2B5EF4-FFF2-40B4-BE49-F238E27FC236}">
                <a16:creationId xmlns:a16="http://schemas.microsoft.com/office/drawing/2014/main" id="{2D9659E4-8E7F-26B8-B1E8-F3836F2A9891}"/>
              </a:ext>
            </a:extLst>
          </p:cNvPr>
          <p:cNvSpPr txBox="1"/>
          <p:nvPr/>
        </p:nvSpPr>
        <p:spPr>
          <a:xfrm>
            <a:off x="6604000" y="1574800"/>
            <a:ext cx="1295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510">
                <a:solidFill>
                  <a:srgbClr val="475569"/>
                </a:solidFill>
                <a:latin typeface="Arial" panose="020B0604020202020204" pitchFamily="34" charset="0"/>
              </a:rPr>
              <a:t>Click or scan: docs, roles, timeline, execution plan</a:t>
            </a:r>
          </a:p>
        </p:txBody>
      </p:sp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5FB28E07-ED67-6E58-9F36-A15545FCEDE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026400" y="1143000"/>
            <a:ext cx="533400" cy="533400"/>
          </a:xfrm>
          <a:prstGeom prst="rect">
            <a:avLst/>
          </a:prstGeom>
        </p:spPr>
      </p:pic>
      <p:pic>
        <p:nvPicPr>
          <p:cNvPr id="1028" name="Picture 4" descr="How To add Colorful Notion Icons to Your Pages - Driveway">
            <a:extLst>
              <a:ext uri="{FF2B5EF4-FFF2-40B4-BE49-F238E27FC236}">
                <a16:creationId xmlns:a16="http://schemas.microsoft.com/office/drawing/2014/main" id="{0D0CC286-6942-A8C8-CB6A-14C7B3D80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170" y="503339"/>
            <a:ext cx="886680" cy="46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/>
          <p:nvPr/>
        </p:nvSpPr>
        <p:spPr>
          <a:xfrm>
            <a:off x="0" y="0"/>
            <a:ext cx="9144000" cy="5080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65760" y="-123369"/>
            <a:ext cx="54864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Meet the Team</a:t>
            </a:r>
            <a:endParaRPr sz="2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5943600" y="0"/>
            <a:ext cx="29260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DCF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C8DCFA"/>
                </a:solidFill>
                <a:latin typeface="Calibri"/>
                <a:ea typeface="Calibri"/>
                <a:cs typeface="Calibri"/>
                <a:sym typeface="Calibri"/>
              </a:rPr>
              <a:t>FinStream · Team of 6 Engineers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320040" y="987552"/>
            <a:ext cx="2651760" cy="1783080"/>
          </a:xfrm>
          <a:prstGeom prst="rect">
            <a:avLst/>
          </a:prstGeom>
          <a:solidFill>
            <a:srgbClr val="132057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320040" y="987552"/>
            <a:ext cx="2651760" cy="38404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320040" y="10332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11480" y="188366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Mostafa Gamal Hamed 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3172968" y="987552"/>
            <a:ext cx="2651760" cy="1783080"/>
          </a:xfrm>
          <a:prstGeom prst="rect">
            <a:avLst/>
          </a:prstGeom>
          <a:solidFill>
            <a:srgbClr val="13205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3172968" y="987552"/>
            <a:ext cx="2651760" cy="384048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4151376" y="115214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3172968" y="10332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3264408" y="188366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Khalid Mohamed Mohamed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6025896" y="987552"/>
            <a:ext cx="2651760" cy="1783080"/>
          </a:xfrm>
          <a:prstGeom prst="rect">
            <a:avLst/>
          </a:prstGeom>
          <a:solidFill>
            <a:srgbClr val="132057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6025896" y="987552"/>
            <a:ext cx="2651760" cy="384048"/>
          </a:xfrm>
          <a:prstGeom prst="rect">
            <a:avLst/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004304" y="1152144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025896" y="10332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117336" y="188366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Saleh Rabei Sayed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320040" y="2980944"/>
            <a:ext cx="2651760" cy="1783080"/>
          </a:xfrm>
          <a:prstGeom prst="rect">
            <a:avLst/>
          </a:prstGeom>
          <a:solidFill>
            <a:srgbClr val="132057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320040" y="2980944"/>
            <a:ext cx="2651760" cy="384048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1298448" y="3145536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320040" y="302666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411480" y="387705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Omar Mohamed Abdelaziz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3172968" y="2980944"/>
            <a:ext cx="2651760" cy="1783080"/>
          </a:xfrm>
          <a:prstGeom prst="rect">
            <a:avLst/>
          </a:prstGeom>
          <a:solidFill>
            <a:srgbClr val="13205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3172968" y="2980944"/>
            <a:ext cx="2651760" cy="384048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4151376" y="3145536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3172968" y="302666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3264408" y="387705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Amira Yasser Mohamed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6025896" y="2980944"/>
            <a:ext cx="2651760" cy="1783080"/>
          </a:xfrm>
          <a:prstGeom prst="rect">
            <a:avLst/>
          </a:prstGeom>
          <a:solidFill>
            <a:srgbClr val="132057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6025896" y="2980944"/>
            <a:ext cx="2651760" cy="384048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7004304" y="3145536"/>
            <a:ext cx="69494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6025896" y="302666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6117336" y="387705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Al-Amir Mohamed Alaa Eldin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/>
          <p:nvPr/>
        </p:nvSpPr>
        <p:spPr>
          <a:xfrm>
            <a:off x="0" y="0"/>
            <a:ext cx="9144000" cy="5080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365760" y="-137883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274320" y="891539"/>
            <a:ext cx="8229600" cy="92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FinStream is an end-to-end, production-grade data engineering platform that processes high-velocity financial events through real-time and batch pipelines, stores them in a medallion lakehouse, and surfaces actionable fraud detection, risk scoring, and market intelligence.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274320" y="2174966"/>
            <a:ext cx="4023360" cy="1051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74320" y="2174966"/>
            <a:ext cx="91440" cy="105156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457200" y="224811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Fraud Detection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57200" y="254072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transaction scored for fraud within &lt;100ms using live ML models embedded in the Flink pipeline.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663440" y="2174966"/>
            <a:ext cx="4023360" cy="1051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4663440" y="2174966"/>
            <a:ext cx="91440" cy="105156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4846320" y="224811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Dynamic Risk Scoring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4846320" y="254072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Risk profiles updated per transaction — not per day — using rolling aggregates stored in Redis.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274320" y="3409406"/>
            <a:ext cx="4023360" cy="1051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274320" y="3409406"/>
            <a:ext cx="91440" cy="10515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457200" y="348255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Market Intelligence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457200" y="377516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Live market signals from Polygon.io, news sentiment, and FX data processed into decisioning signals.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663440" y="3409406"/>
            <a:ext cx="4023360" cy="1051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4663440" y="3409406"/>
            <a:ext cx="91440" cy="105156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4846320" y="348255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Audit &amp; Observability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4846320" y="377516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Immutable Bronze layer, Prometheus metrics, Grafana dashboards, and Great Expectations quality gates.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776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5;p3">
            <a:extLst>
              <a:ext uri="{FF2B5EF4-FFF2-40B4-BE49-F238E27FC236}">
                <a16:creationId xmlns:a16="http://schemas.microsoft.com/office/drawing/2014/main" id="{0AAACA42-74B2-0A0A-90C9-E1DAE0BB3E45}"/>
              </a:ext>
            </a:extLst>
          </p:cNvPr>
          <p:cNvSpPr/>
          <p:nvPr/>
        </p:nvSpPr>
        <p:spPr>
          <a:xfrm>
            <a:off x="0" y="-20026"/>
            <a:ext cx="9144000" cy="5080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8AE10-B156-BB42-85B2-0FF75E150936}"/>
              </a:ext>
            </a:extLst>
          </p:cNvPr>
          <p:cNvSpPr txBox="1"/>
          <p:nvPr/>
        </p:nvSpPr>
        <p:spPr>
          <a:xfrm>
            <a:off x="596900" y="2576423"/>
            <a:ext cx="203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 b="1" dirty="0">
                <a:solidFill>
                  <a:srgbClr val="4B5563"/>
                </a:solidFill>
                <a:latin typeface="Arial" panose="020B0604020202020204" pitchFamily="34" charset="0"/>
              </a:rPr>
              <a:t>BUSINESS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8D48A-43D9-DFED-242E-08A66D59C0D3}"/>
              </a:ext>
            </a:extLst>
          </p:cNvPr>
          <p:cNvSpPr txBox="1"/>
          <p:nvPr/>
        </p:nvSpPr>
        <p:spPr>
          <a:xfrm>
            <a:off x="299604" y="-39467"/>
            <a:ext cx="8392391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 dirty="0" err="1">
                <a:solidFill>
                  <a:schemeClr val="bg1"/>
                </a:solidFill>
                <a:latin typeface="Arial" panose="020B0604020202020204" pitchFamily="34" charset="0"/>
              </a:rPr>
              <a:t>FinStream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 turns raw financial events into decisions while they are happening.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0AFDB-3E1E-F2D7-5401-6B57B60030DF}"/>
              </a:ext>
            </a:extLst>
          </p:cNvPr>
          <p:cNvSpPr txBox="1"/>
          <p:nvPr/>
        </p:nvSpPr>
        <p:spPr>
          <a:xfrm>
            <a:off x="520700" y="708540"/>
            <a:ext cx="7950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dirty="0">
                <a:solidFill>
                  <a:srgbClr val="4B5563"/>
                </a:solidFill>
                <a:latin typeface="Arial" panose="020B0604020202020204" pitchFamily="34" charset="0"/>
              </a:rPr>
              <a:t>Real-time streams and batch Lakehouse features connect to fraud, risk, and market intelligence use cases.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88C9AC-51A5-54B8-456E-777D28C177F3}"/>
              </a:ext>
            </a:extLst>
          </p:cNvPr>
          <p:cNvSpPr/>
          <p:nvPr/>
        </p:nvSpPr>
        <p:spPr>
          <a:xfrm>
            <a:off x="596900" y="1600200"/>
            <a:ext cx="2514600" cy="26035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050" b="1">
                <a:solidFill>
                  <a:srgbClr val="111827"/>
                </a:solidFill>
                <a:latin typeface="Arial" panose="020B0604020202020204" pitchFamily="34" charset="0"/>
              </a:rPr>
              <a:t>Business Problems
Delayed fraud detection
Outdated risk scores
Slow market awareness
Scattered raw data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3FE412-9B8B-4F4A-07BD-583CE179F670}"/>
              </a:ext>
            </a:extLst>
          </p:cNvPr>
          <p:cNvCxnSpPr/>
          <p:nvPr/>
        </p:nvCxnSpPr>
        <p:spPr>
          <a:xfrm>
            <a:off x="3175000" y="2908300"/>
            <a:ext cx="241300" cy="0"/>
          </a:xfrm>
          <a:prstGeom prst="line">
            <a:avLst/>
          </a:prstGeom>
          <a:ln w="19050">
            <a:solidFill>
              <a:srgbClr val="4472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472E30-0BDD-C590-A2DC-2EC39B95C210}"/>
              </a:ext>
            </a:extLst>
          </p:cNvPr>
          <p:cNvSpPr/>
          <p:nvPr/>
        </p:nvSpPr>
        <p:spPr>
          <a:xfrm>
            <a:off x="3454400" y="1600200"/>
            <a:ext cx="2514600" cy="260350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050" b="1">
                <a:solidFill>
                  <a:srgbClr val="111827"/>
                </a:solidFill>
                <a:latin typeface="Arial" panose="020B0604020202020204" pitchFamily="34" charset="0"/>
              </a:rPr>
              <a:t>Data We Use
Transactions
Customer/card/merchant data
Historical fraud outcomes
Market ticks and news sentiment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4C34A4-70C2-6C0C-37B9-9D5CBFD73C9C}"/>
              </a:ext>
            </a:extLst>
          </p:cNvPr>
          <p:cNvCxnSpPr/>
          <p:nvPr/>
        </p:nvCxnSpPr>
        <p:spPr>
          <a:xfrm>
            <a:off x="6032500" y="2908300"/>
            <a:ext cx="241300" cy="0"/>
          </a:xfrm>
          <a:prstGeom prst="line">
            <a:avLst/>
          </a:prstGeom>
          <a:ln w="19050">
            <a:solidFill>
              <a:srgbClr val="4472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13B0B9-82BC-1E4E-D431-F4D682857BBF}"/>
              </a:ext>
            </a:extLst>
          </p:cNvPr>
          <p:cNvSpPr/>
          <p:nvPr/>
        </p:nvSpPr>
        <p:spPr>
          <a:xfrm>
            <a:off x="6311900" y="1600200"/>
            <a:ext cx="2514600" cy="26035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050" b="1">
                <a:solidFill>
                  <a:srgbClr val="111827"/>
                </a:solidFill>
                <a:latin typeface="Arial" panose="020B0604020202020204" pitchFamily="34" charset="0"/>
              </a:rPr>
              <a:t>Decisions We Produce
Fraud score and action
Updated risk profile
Market signal and exposure alert
Dashboards and audit trail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A98D14-A87D-A6D1-34A3-1DBC5EA520E3}"/>
              </a:ext>
            </a:extLst>
          </p:cNvPr>
          <p:cNvSpPr/>
          <p:nvPr/>
        </p:nvSpPr>
        <p:spPr>
          <a:xfrm>
            <a:off x="596900" y="4318000"/>
            <a:ext cx="7950200" cy="4445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 panose="020B0604020202020204" pitchFamily="34" charset="0"/>
              </a:rPr>
              <a:t>pitch: </a:t>
            </a:r>
            <a:r>
              <a:rPr lang="en-US" sz="820" b="1" dirty="0" err="1">
                <a:solidFill>
                  <a:srgbClr val="FFFFFF"/>
                </a:solidFill>
                <a:latin typeface="Arial" panose="020B0604020202020204" pitchFamily="34" charset="0"/>
              </a:rPr>
              <a:t>FinStream</a:t>
            </a:r>
            <a:r>
              <a:rPr lang="en-US" sz="820" b="1" dirty="0">
                <a:solidFill>
                  <a:srgbClr val="FFFFFF"/>
                </a:solidFill>
                <a:latin typeface="Arial" panose="020B0604020202020204" pitchFamily="34" charset="0"/>
              </a:rPr>
              <a:t> turns raw financial events into real-time fraud decisions, dynamic risk profiles, and market intelligence signals using a governed streaming </a:t>
            </a:r>
            <a:r>
              <a:rPr lang="en-US" sz="820" b="1" dirty="0" err="1">
                <a:solidFill>
                  <a:srgbClr val="FFFFFF"/>
                </a:solidFill>
                <a:latin typeface="Arial" panose="020B0604020202020204" pitchFamily="34" charset="0"/>
              </a:rPr>
              <a:t>lakehouse</a:t>
            </a:r>
            <a:r>
              <a:rPr lang="en-US" sz="820" b="1" dirty="0">
                <a:solidFill>
                  <a:srgbClr val="FFFFFF"/>
                </a:solidFill>
                <a:latin typeface="Arial" panose="020B0604020202020204" pitchFamily="34" charset="0"/>
              </a:rPr>
              <a:t>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86515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55;p3">
            <a:extLst>
              <a:ext uri="{FF2B5EF4-FFF2-40B4-BE49-F238E27FC236}">
                <a16:creationId xmlns:a16="http://schemas.microsoft.com/office/drawing/2014/main" id="{0BC8C9D0-FE66-944B-CAAE-1BBE96C6B7B0}"/>
              </a:ext>
            </a:extLst>
          </p:cNvPr>
          <p:cNvSpPr/>
          <p:nvPr/>
        </p:nvSpPr>
        <p:spPr>
          <a:xfrm>
            <a:off x="0" y="-58750"/>
            <a:ext cx="9144000" cy="5080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08E692-F955-6D9F-671D-ACE08E26E4FE}"/>
              </a:ext>
            </a:extLst>
          </p:cNvPr>
          <p:cNvSpPr txBox="1"/>
          <p:nvPr/>
        </p:nvSpPr>
        <p:spPr>
          <a:xfrm>
            <a:off x="8126549" y="253916"/>
            <a:ext cx="866503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 b="1" dirty="0">
                <a:solidFill>
                  <a:schemeClr val="bg1"/>
                </a:solidFill>
                <a:latin typeface="Arial" panose="020B0604020202020204" pitchFamily="34" charset="0"/>
              </a:rPr>
              <a:t>WHAT WE SOLVE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7BAA4-BA26-BFB7-C2E6-9D7306F66F9A}"/>
              </a:ext>
            </a:extLst>
          </p:cNvPr>
          <p:cNvSpPr txBox="1"/>
          <p:nvPr/>
        </p:nvSpPr>
        <p:spPr>
          <a:xfrm>
            <a:off x="150948" y="0"/>
            <a:ext cx="812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Delayed financial decision-making is the business problem.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76CEC-60DF-54BF-A943-10C9BA95B717}"/>
              </a:ext>
            </a:extLst>
          </p:cNvPr>
          <p:cNvSpPr txBox="1"/>
          <p:nvPr/>
        </p:nvSpPr>
        <p:spPr>
          <a:xfrm>
            <a:off x="459509" y="615554"/>
            <a:ext cx="7874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dirty="0">
                <a:solidFill>
                  <a:srgbClr val="4B5563"/>
                </a:solidFill>
                <a:latin typeface="Arial" panose="020B0604020202020204" pitchFamily="34" charset="0"/>
              </a:rPr>
              <a:t>Each source is mapped to an explicit operational decision, not just stored for tooling practice.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969F4D-4DCA-A191-FD34-AEB6596BD09C}"/>
              </a:ext>
            </a:extLst>
          </p:cNvPr>
          <p:cNvSpPr/>
          <p:nvPr/>
        </p:nvSpPr>
        <p:spPr>
          <a:xfrm>
            <a:off x="508000" y="1485900"/>
            <a:ext cx="2222500" cy="4953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Business Problem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3AAD06-1AE3-477C-8F5C-275D3591A047}"/>
              </a:ext>
            </a:extLst>
          </p:cNvPr>
          <p:cNvSpPr/>
          <p:nvPr/>
        </p:nvSpPr>
        <p:spPr>
          <a:xfrm>
            <a:off x="2730500" y="1485900"/>
            <a:ext cx="2730500" cy="495300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Why It Matters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D4EC14-B3C1-6EA6-EEDA-14AC6BDC8AB6}"/>
              </a:ext>
            </a:extLst>
          </p:cNvPr>
          <p:cNvSpPr/>
          <p:nvPr/>
        </p:nvSpPr>
        <p:spPr>
          <a:xfrm>
            <a:off x="5461000" y="1485900"/>
            <a:ext cx="3302000" cy="4953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FinStream</a:t>
            </a:r>
            <a:r>
              <a:rPr lang="en-US" sz="11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Response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A6D621-3B29-BAE4-827D-38B0BAFC910B}"/>
              </a:ext>
            </a:extLst>
          </p:cNvPr>
          <p:cNvSpPr/>
          <p:nvPr/>
        </p:nvSpPr>
        <p:spPr>
          <a:xfrm>
            <a:off x="508000" y="1981200"/>
            <a:ext cx="2222500" cy="4953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Fraud is detected too late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581157-2CCF-0DA6-3DA9-70F8CCCC2B2D}"/>
              </a:ext>
            </a:extLst>
          </p:cNvPr>
          <p:cNvSpPr/>
          <p:nvPr/>
        </p:nvSpPr>
        <p:spPr>
          <a:xfrm>
            <a:off x="2730500" y="1981200"/>
            <a:ext cx="2730500" cy="4953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Money may already be transferred before fraud is found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04BA50-D7E8-D567-8E03-8B22C46BEC70}"/>
              </a:ext>
            </a:extLst>
          </p:cNvPr>
          <p:cNvSpPr/>
          <p:nvPr/>
        </p:nvSpPr>
        <p:spPr>
          <a:xfrm>
            <a:off x="5461000" y="1981200"/>
            <a:ext cx="3302000" cy="4953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Score every transaction in real time using Flink plus ML/rules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B1ED4A-77FE-4CCB-409C-33554E249480}"/>
              </a:ext>
            </a:extLst>
          </p:cNvPr>
          <p:cNvSpPr/>
          <p:nvPr/>
        </p:nvSpPr>
        <p:spPr>
          <a:xfrm>
            <a:off x="508000" y="2476500"/>
            <a:ext cx="2222500" cy="4953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Risk changes continuously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CD1266-ECCD-9B01-B4BE-56D217DA6704}"/>
              </a:ext>
            </a:extLst>
          </p:cNvPr>
          <p:cNvSpPr/>
          <p:nvPr/>
        </p:nvSpPr>
        <p:spPr>
          <a:xfrm>
            <a:off x="2730500" y="2476500"/>
            <a:ext cx="2730500" cy="4953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Daily batch risk scores become outdated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4C008E-DEF1-B033-4B0E-A9957A670A2C}"/>
              </a:ext>
            </a:extLst>
          </p:cNvPr>
          <p:cNvSpPr/>
          <p:nvPr/>
        </p:nvSpPr>
        <p:spPr>
          <a:xfrm>
            <a:off x="5461000" y="2476500"/>
            <a:ext cx="3302000" cy="4953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680" b="1" dirty="0">
                <a:solidFill>
                  <a:srgbClr val="111827"/>
                </a:solidFill>
                <a:latin typeface="Arial" panose="020B0604020202020204" pitchFamily="34" charset="0"/>
              </a:rPr>
              <a:t>Update profiles from live behavior plus historical Gold features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E2228C6-ECD9-FA89-CA37-7A79A5C802FD}"/>
              </a:ext>
            </a:extLst>
          </p:cNvPr>
          <p:cNvSpPr/>
          <p:nvPr/>
        </p:nvSpPr>
        <p:spPr>
          <a:xfrm>
            <a:off x="508000" y="2971800"/>
            <a:ext cx="2222500" cy="4953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Market/news events move exposure quickly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9E56D3-11F7-FB8E-8D49-DBE74C75E913}"/>
              </a:ext>
            </a:extLst>
          </p:cNvPr>
          <p:cNvSpPr/>
          <p:nvPr/>
        </p:nvSpPr>
        <p:spPr>
          <a:xfrm>
            <a:off x="2730500" y="2971800"/>
            <a:ext cx="2730500" cy="4953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Price drops, negative sentiment, or volatility create risk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F05B61-098A-7F3A-1A89-377E0CC8FA80}"/>
              </a:ext>
            </a:extLst>
          </p:cNvPr>
          <p:cNvSpPr/>
          <p:nvPr/>
        </p:nvSpPr>
        <p:spPr>
          <a:xfrm>
            <a:off x="5461000" y="2971800"/>
            <a:ext cx="3302000" cy="4953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Convert ticks and sentiment into market intelligence signals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77F664-5EDB-B7F8-2A41-9A22EFFDC5E6}"/>
              </a:ext>
            </a:extLst>
          </p:cNvPr>
          <p:cNvSpPr/>
          <p:nvPr/>
        </p:nvSpPr>
        <p:spPr>
          <a:xfrm>
            <a:off x="508000" y="3467100"/>
            <a:ext cx="2222500" cy="4953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Raw data is scattered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7E0D22-AEFE-8BA8-4A72-6AD6FA2C141D}"/>
              </a:ext>
            </a:extLst>
          </p:cNvPr>
          <p:cNvSpPr/>
          <p:nvPr/>
        </p:nvSpPr>
        <p:spPr>
          <a:xfrm>
            <a:off x="2730500" y="3467100"/>
            <a:ext cx="2730500" cy="4953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Analysts and ML teams cannot trust inconsistent sources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389768-59AB-8F53-E3B6-1E4DBEED1378}"/>
              </a:ext>
            </a:extLst>
          </p:cNvPr>
          <p:cNvSpPr/>
          <p:nvPr/>
        </p:nvSpPr>
        <p:spPr>
          <a:xfrm>
            <a:off x="5461000" y="3467100"/>
            <a:ext cx="3302000" cy="4953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Store events in governed Bronze/Silver/Gold lakehouse layers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A7C7BB-B240-3EE8-7C53-6ADCEF64D0B6}"/>
              </a:ext>
            </a:extLst>
          </p:cNvPr>
          <p:cNvSpPr/>
          <p:nvPr/>
        </p:nvSpPr>
        <p:spPr>
          <a:xfrm>
            <a:off x="508000" y="3962400"/>
            <a:ext cx="2222500" cy="4953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Users need live and historical insight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1DBCDA9-25B1-9781-1AA8-17274689E218}"/>
              </a:ext>
            </a:extLst>
          </p:cNvPr>
          <p:cNvSpPr/>
          <p:nvPr/>
        </p:nvSpPr>
        <p:spPr>
          <a:xfrm>
            <a:off x="2730500" y="3962400"/>
            <a:ext cx="2730500" cy="4953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Dashboards must show current alerts and trends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68DC6A-C4EC-CB5B-7AF4-4C6EDCA2FC89}"/>
              </a:ext>
            </a:extLst>
          </p:cNvPr>
          <p:cNvSpPr/>
          <p:nvPr/>
        </p:nvSpPr>
        <p:spPr>
          <a:xfrm>
            <a:off x="5461000" y="3962400"/>
            <a:ext cx="3302000" cy="4953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Serve real-time and curated data through ClickHouse/Superset</a:t>
            </a:r>
          </a:p>
        </p:txBody>
      </p:sp>
    </p:spTree>
    <p:extLst>
      <p:ext uri="{BB962C8B-B14F-4D97-AF65-F5344CB8AC3E}">
        <p14:creationId xmlns:p14="http://schemas.microsoft.com/office/powerpoint/2010/main" val="392016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55;p3">
            <a:extLst>
              <a:ext uri="{FF2B5EF4-FFF2-40B4-BE49-F238E27FC236}">
                <a16:creationId xmlns:a16="http://schemas.microsoft.com/office/drawing/2014/main" id="{8C0891C7-EDD9-611C-0A3E-8EDA4FEBA693}"/>
              </a:ext>
            </a:extLst>
          </p:cNvPr>
          <p:cNvSpPr/>
          <p:nvPr/>
        </p:nvSpPr>
        <p:spPr>
          <a:xfrm>
            <a:off x="0" y="-3555"/>
            <a:ext cx="9144000" cy="5080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AA10B-0A52-5F15-4460-43B04F7361F9}"/>
              </a:ext>
            </a:extLst>
          </p:cNvPr>
          <p:cNvSpPr txBox="1"/>
          <p:nvPr/>
        </p:nvSpPr>
        <p:spPr>
          <a:xfrm>
            <a:off x="8318500" y="334915"/>
            <a:ext cx="605246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 b="1" dirty="0">
                <a:solidFill>
                  <a:schemeClr val="bg1"/>
                </a:solidFill>
                <a:latin typeface="Arial" panose="020B0604020202020204" pitchFamily="34" charset="0"/>
              </a:rPr>
              <a:t>DATA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CA15F1-B77F-27BE-0EF0-8076FE3B89B7}"/>
              </a:ext>
            </a:extLst>
          </p:cNvPr>
          <p:cNvSpPr txBox="1"/>
          <p:nvPr/>
        </p:nvSpPr>
        <p:spPr>
          <a:xfrm>
            <a:off x="190500" y="66991"/>
            <a:ext cx="812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Every ingested dataset earns its place by producing a decision.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6B676-C6E0-EB1E-FC25-57E5C3123A94}"/>
              </a:ext>
            </a:extLst>
          </p:cNvPr>
          <p:cNvSpPr txBox="1"/>
          <p:nvPr/>
        </p:nvSpPr>
        <p:spPr>
          <a:xfrm>
            <a:off x="508000" y="611405"/>
            <a:ext cx="7874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dirty="0">
                <a:solidFill>
                  <a:srgbClr val="4B5563"/>
                </a:solidFill>
                <a:latin typeface="Arial" panose="020B0604020202020204" pitchFamily="34" charset="0"/>
              </a:rPr>
              <a:t>This answers why transactions, market data, and news belong in the same financial data platform.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2DBA3D-3424-018A-1219-91B4EE3DF835}"/>
              </a:ext>
            </a:extLst>
          </p:cNvPr>
          <p:cNvSpPr/>
          <p:nvPr/>
        </p:nvSpPr>
        <p:spPr>
          <a:xfrm>
            <a:off x="406400" y="1422400"/>
            <a:ext cx="2133600" cy="4445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</a:rPr>
              <a:t>Data We Ingest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435268-CE55-B017-CCAB-42E449237B82}"/>
              </a:ext>
            </a:extLst>
          </p:cNvPr>
          <p:cNvSpPr/>
          <p:nvPr/>
        </p:nvSpPr>
        <p:spPr>
          <a:xfrm>
            <a:off x="2540000" y="1422400"/>
            <a:ext cx="3111500" cy="444500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</a:rPr>
              <a:t>What We Extract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200E1E-8192-3128-5610-46AE96AE9103}"/>
              </a:ext>
            </a:extLst>
          </p:cNvPr>
          <p:cNvSpPr/>
          <p:nvPr/>
        </p:nvSpPr>
        <p:spPr>
          <a:xfrm>
            <a:off x="5651500" y="1422400"/>
            <a:ext cx="3022600" cy="4445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</a:rPr>
              <a:t>Decision / Output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A3E773-0BCD-1D8E-E282-63DE854AD971}"/>
              </a:ext>
            </a:extLst>
          </p:cNvPr>
          <p:cNvSpPr/>
          <p:nvPr/>
        </p:nvSpPr>
        <p:spPr>
          <a:xfrm>
            <a:off x="406400" y="1866900"/>
            <a:ext cx="2133600" cy="444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Bank transactions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699E59-DFF5-B8C2-EB6B-E6684B16F673}"/>
              </a:ext>
            </a:extLst>
          </p:cNvPr>
          <p:cNvSpPr/>
          <p:nvPr/>
        </p:nvSpPr>
        <p:spPr>
          <a:xfrm>
            <a:off x="2540000" y="1866900"/>
            <a:ext cx="3111500" cy="444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680" b="1" dirty="0">
                <a:solidFill>
                  <a:srgbClr val="111827"/>
                </a:solidFill>
                <a:latin typeface="Arial" panose="020B0604020202020204" pitchFamily="34" charset="0"/>
              </a:rPr>
              <a:t>Amount patterns, velocity, merchant behavior, country/device anomalies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2BDCFB-3F86-E314-4D94-53832C8C3903}"/>
              </a:ext>
            </a:extLst>
          </p:cNvPr>
          <p:cNvSpPr/>
          <p:nvPr/>
        </p:nvSpPr>
        <p:spPr>
          <a:xfrm>
            <a:off x="5651500" y="1866900"/>
            <a:ext cx="3022600" cy="444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Fraud score, risk level, approve/review/block decision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52E417-BDB5-0AE5-1E9C-D16D98E2E123}"/>
              </a:ext>
            </a:extLst>
          </p:cNvPr>
          <p:cNvSpPr/>
          <p:nvPr/>
        </p:nvSpPr>
        <p:spPr>
          <a:xfrm>
            <a:off x="406400" y="2311400"/>
            <a:ext cx="2133600" cy="4445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Reference data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D5C81E3-75B4-4320-F08D-3031ECB3C1FC}"/>
              </a:ext>
            </a:extLst>
          </p:cNvPr>
          <p:cNvSpPr/>
          <p:nvPr/>
        </p:nvSpPr>
        <p:spPr>
          <a:xfrm>
            <a:off x="2540000" y="2311400"/>
            <a:ext cx="3111500" cy="4445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Customer profile, card history, merchant risk, country risk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373847-EA67-6695-7AA8-D68F005E7879}"/>
              </a:ext>
            </a:extLst>
          </p:cNvPr>
          <p:cNvSpPr/>
          <p:nvPr/>
        </p:nvSpPr>
        <p:spPr>
          <a:xfrm>
            <a:off x="5651500" y="2311400"/>
            <a:ext cx="3022600" cy="4445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Better fraud scoring and dynamic risk scoring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2C42E3-7BC6-E27B-693E-945EE66912D4}"/>
              </a:ext>
            </a:extLst>
          </p:cNvPr>
          <p:cNvSpPr/>
          <p:nvPr/>
        </p:nvSpPr>
        <p:spPr>
          <a:xfrm>
            <a:off x="406400" y="2755900"/>
            <a:ext cx="2133600" cy="444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Historical transactions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1DACDC-A07B-94A1-7531-966EB29AECB5}"/>
              </a:ext>
            </a:extLst>
          </p:cNvPr>
          <p:cNvSpPr/>
          <p:nvPr/>
        </p:nvSpPr>
        <p:spPr>
          <a:xfrm>
            <a:off x="2540000" y="2755900"/>
            <a:ext cx="3111500" cy="444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680" b="1">
                <a:solidFill>
                  <a:srgbClr val="111827"/>
                </a:solidFill>
                <a:latin typeface="Arial" panose="020B0604020202020204" pitchFamily="34" charset="0"/>
              </a:rPr>
              <a:t>30/60/90-day behavior, fraud rate, average amount, abnormal patterns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F0B0998-60F3-E466-0CBD-4B13F445150E}"/>
              </a:ext>
            </a:extLst>
          </p:cNvPr>
          <p:cNvSpPr/>
          <p:nvPr/>
        </p:nvSpPr>
        <p:spPr>
          <a:xfrm>
            <a:off x="5651500" y="2755900"/>
            <a:ext cx="3022600" cy="444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Gold features for ML training and risk profiles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6BA3341-BC0E-D4A2-91F7-45AA6265C0C1}"/>
              </a:ext>
            </a:extLst>
          </p:cNvPr>
          <p:cNvSpPr/>
          <p:nvPr/>
        </p:nvSpPr>
        <p:spPr>
          <a:xfrm>
            <a:off x="406400" y="3200400"/>
            <a:ext cx="2133600" cy="4445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Market ticks / FX / price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103D332-F377-E018-96A3-31B140398A15}"/>
              </a:ext>
            </a:extLst>
          </p:cNvPr>
          <p:cNvSpPr/>
          <p:nvPr/>
        </p:nvSpPr>
        <p:spPr>
          <a:xfrm>
            <a:off x="2540000" y="3200400"/>
            <a:ext cx="3111500" cy="4445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Price spikes, volume anomalies, volatility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272FF6A-BFDB-2279-5881-6CD3D8DD58A4}"/>
              </a:ext>
            </a:extLst>
          </p:cNvPr>
          <p:cNvSpPr/>
          <p:nvPr/>
        </p:nvSpPr>
        <p:spPr>
          <a:xfrm>
            <a:off x="5651500" y="3200400"/>
            <a:ext cx="3022600" cy="4445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Market signals and exposure alerts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EA745E-B838-59AB-A05A-8350322373EF}"/>
              </a:ext>
            </a:extLst>
          </p:cNvPr>
          <p:cNvSpPr/>
          <p:nvPr/>
        </p:nvSpPr>
        <p:spPr>
          <a:xfrm>
            <a:off x="406400" y="3644900"/>
            <a:ext cx="2133600" cy="444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News / sentiment feeds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072EBE-A4CF-B97C-4401-17C9F15FBE83}"/>
              </a:ext>
            </a:extLst>
          </p:cNvPr>
          <p:cNvSpPr/>
          <p:nvPr/>
        </p:nvSpPr>
        <p:spPr>
          <a:xfrm>
            <a:off x="2540000" y="3644900"/>
            <a:ext cx="3111500" cy="444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fr-FR" sz="740" b="1">
                <a:solidFill>
                  <a:srgbClr val="111827"/>
                </a:solidFill>
                <a:latin typeface="Arial" panose="020B0604020202020204" pitchFamily="34" charset="0"/>
              </a:rPr>
              <a:t>Sentiment plus topic/entity signals</a:t>
            </a:r>
            <a:endParaRPr lang="en-US" sz="740" b="1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C475D44-04C1-7354-52F8-AF70508FFE79}"/>
              </a:ext>
            </a:extLst>
          </p:cNvPr>
          <p:cNvSpPr/>
          <p:nvPr/>
        </p:nvSpPr>
        <p:spPr>
          <a:xfrm>
            <a:off x="5651500" y="3644900"/>
            <a:ext cx="3022600" cy="444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Market intelligence and optional risk context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E17BD5-A595-0CF1-D61B-F920B258D0EF}"/>
              </a:ext>
            </a:extLst>
          </p:cNvPr>
          <p:cNvSpPr/>
          <p:nvPr/>
        </p:nvSpPr>
        <p:spPr>
          <a:xfrm>
            <a:off x="406400" y="4089400"/>
            <a:ext cx="2133600" cy="4445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Raw Bronze event history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4A084F-34F5-A079-3F63-01973CBEA871}"/>
              </a:ext>
            </a:extLst>
          </p:cNvPr>
          <p:cNvSpPr/>
          <p:nvPr/>
        </p:nvSpPr>
        <p:spPr>
          <a:xfrm>
            <a:off x="2540000" y="4089400"/>
            <a:ext cx="3111500" cy="4445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Immutable audit trail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896687B-BE68-9D45-41E8-6193FD00B975}"/>
              </a:ext>
            </a:extLst>
          </p:cNvPr>
          <p:cNvSpPr/>
          <p:nvPr/>
        </p:nvSpPr>
        <p:spPr>
          <a:xfrm>
            <a:off x="5651500" y="4089400"/>
            <a:ext cx="3022600" cy="4445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rial" panose="020B0604020202020204" pitchFamily="34" charset="0"/>
              </a:rPr>
              <a:t>Replay, debugging, compliance, model retraining</a:t>
            </a:r>
          </a:p>
        </p:txBody>
      </p:sp>
    </p:spTree>
    <p:extLst>
      <p:ext uri="{BB962C8B-B14F-4D97-AF65-F5344CB8AC3E}">
        <p14:creationId xmlns:p14="http://schemas.microsoft.com/office/powerpoint/2010/main" val="257790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55;p3">
            <a:extLst>
              <a:ext uri="{FF2B5EF4-FFF2-40B4-BE49-F238E27FC236}">
                <a16:creationId xmlns:a16="http://schemas.microsoft.com/office/drawing/2014/main" id="{FF05C9CF-162A-28CD-0444-494641AA2316}"/>
              </a:ext>
            </a:extLst>
          </p:cNvPr>
          <p:cNvSpPr/>
          <p:nvPr/>
        </p:nvSpPr>
        <p:spPr>
          <a:xfrm>
            <a:off x="0" y="-29539"/>
            <a:ext cx="9144000" cy="5080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77C11-7570-3B33-205E-B37A9C7198DC}"/>
              </a:ext>
            </a:extLst>
          </p:cNvPr>
          <p:cNvSpPr txBox="1"/>
          <p:nvPr/>
        </p:nvSpPr>
        <p:spPr>
          <a:xfrm>
            <a:off x="7989026" y="336610"/>
            <a:ext cx="824773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 b="1" dirty="0">
                <a:solidFill>
                  <a:schemeClr val="bg1"/>
                </a:solidFill>
                <a:latin typeface="Arial" panose="020B0604020202020204" pitchFamily="34" charset="0"/>
              </a:rPr>
              <a:t>DECISION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6937B-795F-3308-340D-9480D66338CD}"/>
              </a:ext>
            </a:extLst>
          </p:cNvPr>
          <p:cNvSpPr txBox="1"/>
          <p:nvPr/>
        </p:nvSpPr>
        <p:spPr>
          <a:xfrm>
            <a:off x="330200" y="-60892"/>
            <a:ext cx="8128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The architecture converts streaming events into live decisions and trusted Gold features.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ED1A2-4CF6-C315-69DC-7F687091A7C9}"/>
              </a:ext>
            </a:extLst>
          </p:cNvPr>
          <p:cNvSpPr txBox="1"/>
          <p:nvPr/>
        </p:nvSpPr>
        <p:spPr>
          <a:xfrm>
            <a:off x="584200" y="630861"/>
            <a:ext cx="7874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dirty="0">
                <a:solidFill>
                  <a:srgbClr val="4B5563"/>
                </a:solidFill>
                <a:latin typeface="Arial" panose="020B0604020202020204" pitchFamily="34" charset="0"/>
              </a:rPr>
              <a:t>Real-time scoring and batch enrichment share the same governed </a:t>
            </a:r>
            <a:r>
              <a:rPr lang="en-US" sz="1800" dirty="0" err="1">
                <a:solidFill>
                  <a:srgbClr val="4B5563"/>
                </a:solidFill>
                <a:latin typeface="Arial" panose="020B0604020202020204" pitchFamily="34" charset="0"/>
              </a:rPr>
              <a:t>lakehouse</a:t>
            </a:r>
            <a:r>
              <a:rPr lang="en-US" sz="1800" dirty="0">
                <a:solidFill>
                  <a:srgbClr val="4B5563"/>
                </a:solidFill>
                <a:latin typeface="Arial" panose="020B0604020202020204" pitchFamily="34" charset="0"/>
              </a:rPr>
              <a:t> foundation.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D09EF3-6638-76F8-4B22-853D2CBAE754}"/>
              </a:ext>
            </a:extLst>
          </p:cNvPr>
          <p:cNvSpPr/>
          <p:nvPr/>
        </p:nvSpPr>
        <p:spPr>
          <a:xfrm>
            <a:off x="914400" y="1333500"/>
            <a:ext cx="7315200" cy="3429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40" b="1">
                <a:solidFill>
                  <a:srgbClr val="FFFFFF"/>
                </a:solidFill>
                <a:latin typeface="Arial" panose="020B0604020202020204" pitchFamily="34" charset="0"/>
              </a:rPr>
              <a:t>Raw Financial Events
Transactions | reference | market ticks | news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BCF3B4-AAD9-D615-D19A-9E9B793DB1ED}"/>
              </a:ext>
            </a:extLst>
          </p:cNvPr>
          <p:cNvCxnSpPr/>
          <p:nvPr/>
        </p:nvCxnSpPr>
        <p:spPr>
          <a:xfrm>
            <a:off x="4572000" y="1689100"/>
            <a:ext cx="0" cy="114300"/>
          </a:xfrm>
          <a:prstGeom prst="line">
            <a:avLst/>
          </a:prstGeom>
          <a:ln w="19050">
            <a:solidFill>
              <a:srgbClr val="4B556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0CED50-0796-DEB0-9DC7-68D2B89CAAAE}"/>
              </a:ext>
            </a:extLst>
          </p:cNvPr>
          <p:cNvSpPr/>
          <p:nvPr/>
        </p:nvSpPr>
        <p:spPr>
          <a:xfrm>
            <a:off x="914400" y="1828800"/>
            <a:ext cx="7315200" cy="342900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40" b="1">
                <a:solidFill>
                  <a:srgbClr val="111827"/>
                </a:solidFill>
                <a:latin typeface="Arial" panose="020B0604020202020204" pitchFamily="34" charset="0"/>
              </a:rPr>
              <a:t>Kafka ingestion
Live event transport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6704B5-EF5B-D1B2-2EA7-7A9667555B8D}"/>
              </a:ext>
            </a:extLst>
          </p:cNvPr>
          <p:cNvCxnSpPr/>
          <p:nvPr/>
        </p:nvCxnSpPr>
        <p:spPr>
          <a:xfrm>
            <a:off x="4572000" y="2184400"/>
            <a:ext cx="0" cy="114300"/>
          </a:xfrm>
          <a:prstGeom prst="line">
            <a:avLst/>
          </a:prstGeom>
          <a:ln w="19050">
            <a:solidFill>
              <a:srgbClr val="4B556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748029-7547-D4EE-73BA-4B103F7B2F24}"/>
              </a:ext>
            </a:extLst>
          </p:cNvPr>
          <p:cNvSpPr/>
          <p:nvPr/>
        </p:nvSpPr>
        <p:spPr>
          <a:xfrm>
            <a:off x="914400" y="2324100"/>
            <a:ext cx="7315200" cy="3429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40" b="1">
                <a:solidFill>
                  <a:srgbClr val="111827"/>
                </a:solidFill>
                <a:latin typeface="Arial" panose="020B0604020202020204" pitchFamily="34" charset="0"/>
              </a:rPr>
              <a:t>Flink processing
Enrichment, scoring, rules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E7F64D-9801-D32D-84F2-8BF6AB59EE74}"/>
              </a:ext>
            </a:extLst>
          </p:cNvPr>
          <p:cNvCxnSpPr/>
          <p:nvPr/>
        </p:nvCxnSpPr>
        <p:spPr>
          <a:xfrm>
            <a:off x="4572000" y="2679700"/>
            <a:ext cx="0" cy="114300"/>
          </a:xfrm>
          <a:prstGeom prst="line">
            <a:avLst/>
          </a:prstGeom>
          <a:ln w="19050">
            <a:solidFill>
              <a:srgbClr val="4B556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1A2301-5E27-2F26-16BE-15A82618A043}"/>
              </a:ext>
            </a:extLst>
          </p:cNvPr>
          <p:cNvSpPr/>
          <p:nvPr/>
        </p:nvSpPr>
        <p:spPr>
          <a:xfrm>
            <a:off x="914400" y="2819400"/>
            <a:ext cx="7315200" cy="3429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40" b="1">
                <a:solidFill>
                  <a:srgbClr val="FFFFFF"/>
                </a:solidFill>
                <a:latin typeface="Arial" panose="020B0604020202020204" pitchFamily="34" charset="0"/>
              </a:rPr>
              <a:t>Real-time decisions
fraud_score | risk_level | market_signal | alert/action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B54E2D-A1E8-BBB3-3D41-F680BE8F0B52}"/>
              </a:ext>
            </a:extLst>
          </p:cNvPr>
          <p:cNvCxnSpPr/>
          <p:nvPr/>
        </p:nvCxnSpPr>
        <p:spPr>
          <a:xfrm>
            <a:off x="4572000" y="3175000"/>
            <a:ext cx="0" cy="114300"/>
          </a:xfrm>
          <a:prstGeom prst="line">
            <a:avLst/>
          </a:prstGeom>
          <a:ln w="19050">
            <a:solidFill>
              <a:srgbClr val="4B556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B416D0-9773-EC31-1B2D-D24EE6F13988}"/>
              </a:ext>
            </a:extLst>
          </p:cNvPr>
          <p:cNvSpPr/>
          <p:nvPr/>
        </p:nvSpPr>
        <p:spPr>
          <a:xfrm>
            <a:off x="914400" y="3314700"/>
            <a:ext cx="7315200" cy="342900"/>
          </a:xfrm>
          <a:prstGeom prst="roundRect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40" b="1">
                <a:solidFill>
                  <a:srgbClr val="111827"/>
                </a:solidFill>
                <a:latin typeface="Arial" panose="020B0604020202020204" pitchFamily="34" charset="0"/>
              </a:rPr>
              <a:t>MinIO + Iceberg
Bronze/Silver/Gold audit lakehouse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9F229A-0C5E-FDC6-AD01-95B1BFCF93CD}"/>
              </a:ext>
            </a:extLst>
          </p:cNvPr>
          <p:cNvCxnSpPr/>
          <p:nvPr/>
        </p:nvCxnSpPr>
        <p:spPr>
          <a:xfrm>
            <a:off x="4572000" y="3670300"/>
            <a:ext cx="0" cy="114300"/>
          </a:xfrm>
          <a:prstGeom prst="line">
            <a:avLst/>
          </a:prstGeom>
          <a:ln w="19050">
            <a:solidFill>
              <a:srgbClr val="4B556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B44744-A84F-1EE2-76AC-A4905E1D4B7B}"/>
              </a:ext>
            </a:extLst>
          </p:cNvPr>
          <p:cNvSpPr/>
          <p:nvPr/>
        </p:nvSpPr>
        <p:spPr>
          <a:xfrm>
            <a:off x="914400" y="3810000"/>
            <a:ext cx="7315200" cy="3429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40" b="1">
                <a:solidFill>
                  <a:srgbClr val="111827"/>
                </a:solidFill>
                <a:latin typeface="Arial" panose="020B0604020202020204" pitchFamily="34" charset="0"/>
              </a:rPr>
              <a:t>Spark/dbt enrichment
Curated features and history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9988BA-F6B8-D6B6-64BC-ADB961EAFDC1}"/>
              </a:ext>
            </a:extLst>
          </p:cNvPr>
          <p:cNvCxnSpPr/>
          <p:nvPr/>
        </p:nvCxnSpPr>
        <p:spPr>
          <a:xfrm>
            <a:off x="4572000" y="4165600"/>
            <a:ext cx="0" cy="114300"/>
          </a:xfrm>
          <a:prstGeom prst="line">
            <a:avLst/>
          </a:prstGeom>
          <a:ln w="19050">
            <a:solidFill>
              <a:srgbClr val="4B556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B7291A-E92E-03CF-D1C8-CB36B9C886BC}"/>
              </a:ext>
            </a:extLst>
          </p:cNvPr>
          <p:cNvSpPr/>
          <p:nvPr/>
        </p:nvSpPr>
        <p:spPr>
          <a:xfrm>
            <a:off x="914400" y="4305300"/>
            <a:ext cx="7315200" cy="3429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40" b="1">
                <a:solidFill>
                  <a:srgbClr val="FFFFFF"/>
                </a:solidFill>
                <a:latin typeface="Arial" panose="020B0604020202020204" pitchFamily="34" charset="0"/>
              </a:rPr>
              <a:t>Serving layer
ML training | Redis | ClickHouse | Superset</a:t>
            </a:r>
          </a:p>
        </p:txBody>
      </p:sp>
    </p:spTree>
    <p:extLst>
      <p:ext uri="{BB962C8B-B14F-4D97-AF65-F5344CB8AC3E}">
        <p14:creationId xmlns:p14="http://schemas.microsoft.com/office/powerpoint/2010/main" val="300553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55;p3">
            <a:extLst>
              <a:ext uri="{FF2B5EF4-FFF2-40B4-BE49-F238E27FC236}">
                <a16:creationId xmlns:a16="http://schemas.microsoft.com/office/drawing/2014/main" id="{E46DCC39-5F5E-F6A6-CA4A-1E62256322CB}"/>
              </a:ext>
            </a:extLst>
          </p:cNvPr>
          <p:cNvSpPr/>
          <p:nvPr/>
        </p:nvSpPr>
        <p:spPr>
          <a:xfrm>
            <a:off x="0" y="-25400"/>
            <a:ext cx="9144000" cy="5080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B4BDC-FDC4-005F-528E-9C7A74B46300}"/>
              </a:ext>
            </a:extLst>
          </p:cNvPr>
          <p:cNvSpPr txBox="1"/>
          <p:nvPr/>
        </p:nvSpPr>
        <p:spPr>
          <a:xfrm>
            <a:off x="8162400" y="300683"/>
            <a:ext cx="9816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 b="1" dirty="0">
                <a:solidFill>
                  <a:schemeClr val="bg1"/>
                </a:solidFill>
                <a:latin typeface="Arial" panose="020B0604020202020204" pitchFamily="34" charset="0"/>
              </a:rPr>
              <a:t>USE-CASE 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FE93D5-6763-2005-A102-DFDDE51E1AC1}"/>
              </a:ext>
            </a:extLst>
          </p:cNvPr>
          <p:cNvSpPr txBox="1"/>
          <p:nvPr/>
        </p:nvSpPr>
        <p:spPr>
          <a:xfrm>
            <a:off x="355600" y="670183"/>
            <a:ext cx="8064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dirty="0">
                <a:solidFill>
                  <a:srgbClr val="4B5563"/>
                </a:solidFill>
                <a:latin typeface="Arial" panose="020B0604020202020204" pitchFamily="34" charset="0"/>
              </a:rPr>
              <a:t>Each layer contributes a specific business capability and avoids tool sprawl.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F7FD40-F88D-9FB2-4E31-5E8D26236656}"/>
              </a:ext>
            </a:extLst>
          </p:cNvPr>
          <p:cNvSpPr/>
          <p:nvPr/>
        </p:nvSpPr>
        <p:spPr>
          <a:xfrm>
            <a:off x="307109" y="1408545"/>
            <a:ext cx="1460500" cy="4191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Capability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494C7A-298D-85EE-51D1-8E0AC6D55319}"/>
              </a:ext>
            </a:extLst>
          </p:cNvPr>
          <p:cNvSpPr/>
          <p:nvPr/>
        </p:nvSpPr>
        <p:spPr>
          <a:xfrm>
            <a:off x="1767609" y="1408545"/>
            <a:ext cx="1714500" cy="4191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Fraud Detection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D7D35A-AB69-E934-45FE-CE8B976DC727}"/>
              </a:ext>
            </a:extLst>
          </p:cNvPr>
          <p:cNvSpPr/>
          <p:nvPr/>
        </p:nvSpPr>
        <p:spPr>
          <a:xfrm>
            <a:off x="3482109" y="1408545"/>
            <a:ext cx="1714500" cy="4191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Dynamic Risk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97927D-43D9-7E54-332E-17ED14F40954}"/>
              </a:ext>
            </a:extLst>
          </p:cNvPr>
          <p:cNvSpPr/>
          <p:nvPr/>
        </p:nvSpPr>
        <p:spPr>
          <a:xfrm>
            <a:off x="5196609" y="1408545"/>
            <a:ext cx="1714500" cy="4191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Market Intelligence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921A37-F233-DAD3-DA59-B03699577744}"/>
              </a:ext>
            </a:extLst>
          </p:cNvPr>
          <p:cNvSpPr/>
          <p:nvPr/>
        </p:nvSpPr>
        <p:spPr>
          <a:xfrm>
            <a:off x="6911109" y="1408545"/>
            <a:ext cx="2095500" cy="4191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Chosen Tools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72D932-1F67-5E00-B74A-AF8D7FB5C512}"/>
              </a:ext>
            </a:extLst>
          </p:cNvPr>
          <p:cNvSpPr/>
          <p:nvPr/>
        </p:nvSpPr>
        <p:spPr>
          <a:xfrm>
            <a:off x="307109" y="1827645"/>
            <a:ext cx="1460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Live event capture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DE2E2D-FB98-FAFE-0FCD-6321AB250EC5}"/>
              </a:ext>
            </a:extLst>
          </p:cNvPr>
          <p:cNvSpPr/>
          <p:nvPr/>
        </p:nvSpPr>
        <p:spPr>
          <a:xfrm>
            <a:off x="1767609" y="1827645"/>
            <a:ext cx="1714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Every transaction arrives as an event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560133-0B3D-5BF5-5580-A87D1B6FBBC1}"/>
              </a:ext>
            </a:extLst>
          </p:cNvPr>
          <p:cNvSpPr/>
          <p:nvPr/>
        </p:nvSpPr>
        <p:spPr>
          <a:xfrm>
            <a:off x="3482109" y="1827645"/>
            <a:ext cx="1714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Behavior changes arrive continuously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AED0D-9B2C-5FF6-DD6A-66B81C840FA6}"/>
              </a:ext>
            </a:extLst>
          </p:cNvPr>
          <p:cNvSpPr/>
          <p:nvPr/>
        </p:nvSpPr>
        <p:spPr>
          <a:xfrm>
            <a:off x="5196609" y="1827645"/>
            <a:ext cx="1714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Ticks/news arrive continuously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026218-6819-3528-E45F-BAC67CF7765A}"/>
              </a:ext>
            </a:extLst>
          </p:cNvPr>
          <p:cNvSpPr/>
          <p:nvPr/>
        </p:nvSpPr>
        <p:spPr>
          <a:xfrm>
            <a:off x="6911109" y="1827645"/>
            <a:ext cx="2095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 dirty="0">
                <a:solidFill>
                  <a:srgbClr val="111827"/>
                </a:solidFill>
                <a:latin typeface="Arial" panose="020B0604020202020204" pitchFamily="34" charset="0"/>
              </a:rPr>
              <a:t>Kafka + Schema Registry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6AFC741-2748-6C57-1678-2F0B07BFB180}"/>
              </a:ext>
            </a:extLst>
          </p:cNvPr>
          <p:cNvSpPr/>
          <p:nvPr/>
        </p:nvSpPr>
        <p:spPr>
          <a:xfrm>
            <a:off x="307109" y="2246745"/>
            <a:ext cx="1460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Real-time scoring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1CB74B-0CF7-F4FE-7090-61BD6615283C}"/>
              </a:ext>
            </a:extLst>
          </p:cNvPr>
          <p:cNvSpPr/>
          <p:nvPr/>
        </p:nvSpPr>
        <p:spPr>
          <a:xfrm>
            <a:off x="1767609" y="2246745"/>
            <a:ext cx="1714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Score transaction before settlement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854018-C527-AC9F-2935-DC74F04D3073}"/>
              </a:ext>
            </a:extLst>
          </p:cNvPr>
          <p:cNvSpPr/>
          <p:nvPr/>
        </p:nvSpPr>
        <p:spPr>
          <a:xfrm>
            <a:off x="3482109" y="2246745"/>
            <a:ext cx="1714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Update risk after behavior changes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7FD0DB-481D-01AB-EB28-58C497ABD744}"/>
              </a:ext>
            </a:extLst>
          </p:cNvPr>
          <p:cNvSpPr/>
          <p:nvPr/>
        </p:nvSpPr>
        <p:spPr>
          <a:xfrm>
            <a:off x="5196609" y="2246745"/>
            <a:ext cx="1714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Detect volatility/sentiment signals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762692B-1417-330C-1A50-F98112EF2996}"/>
              </a:ext>
            </a:extLst>
          </p:cNvPr>
          <p:cNvSpPr/>
          <p:nvPr/>
        </p:nvSpPr>
        <p:spPr>
          <a:xfrm>
            <a:off x="6911109" y="2246745"/>
            <a:ext cx="2095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Flink + Redis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0808795-0B71-493C-5C72-105CE2EE0F97}"/>
              </a:ext>
            </a:extLst>
          </p:cNvPr>
          <p:cNvSpPr/>
          <p:nvPr/>
        </p:nvSpPr>
        <p:spPr>
          <a:xfrm>
            <a:off x="307109" y="2665845"/>
            <a:ext cx="1460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Audit + replay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14757AF-1BD2-4DC3-5123-AD1629FF89FD}"/>
              </a:ext>
            </a:extLst>
          </p:cNvPr>
          <p:cNvSpPr/>
          <p:nvPr/>
        </p:nvSpPr>
        <p:spPr>
          <a:xfrm>
            <a:off x="1767609" y="2665845"/>
            <a:ext cx="1714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Replay suspicious cases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9455673-6C92-78CE-EA0F-C75CB644527E}"/>
              </a:ext>
            </a:extLst>
          </p:cNvPr>
          <p:cNvSpPr/>
          <p:nvPr/>
        </p:nvSpPr>
        <p:spPr>
          <a:xfrm>
            <a:off x="3482109" y="2665845"/>
            <a:ext cx="1714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Rebuild profiles from history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63E3162-9615-F05F-F76C-A39E0663D2F6}"/>
              </a:ext>
            </a:extLst>
          </p:cNvPr>
          <p:cNvSpPr/>
          <p:nvPr/>
        </p:nvSpPr>
        <p:spPr>
          <a:xfrm>
            <a:off x="5196609" y="2665845"/>
            <a:ext cx="1714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Replay market/news windows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0440E9-6719-6A6F-79DF-9F0AA58DF546}"/>
              </a:ext>
            </a:extLst>
          </p:cNvPr>
          <p:cNvSpPr/>
          <p:nvPr/>
        </p:nvSpPr>
        <p:spPr>
          <a:xfrm>
            <a:off x="6911109" y="2665845"/>
            <a:ext cx="2095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MinIO + Iceberg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D7D25F8-2CA9-E10A-21F7-8D6F7741DE5B}"/>
              </a:ext>
            </a:extLst>
          </p:cNvPr>
          <p:cNvSpPr/>
          <p:nvPr/>
        </p:nvSpPr>
        <p:spPr>
          <a:xfrm>
            <a:off x="307109" y="3084945"/>
            <a:ext cx="1460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Historical features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001851E-2E02-C6F2-BD21-23653A383E82}"/>
              </a:ext>
            </a:extLst>
          </p:cNvPr>
          <p:cNvSpPr/>
          <p:nvPr/>
        </p:nvSpPr>
        <p:spPr>
          <a:xfrm>
            <a:off x="1767609" y="3084945"/>
            <a:ext cx="1714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Fraud rates, velocity, averages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A80B51D-73A0-1AC8-9C61-8550B8A77971}"/>
              </a:ext>
            </a:extLst>
          </p:cNvPr>
          <p:cNvSpPr/>
          <p:nvPr/>
        </p:nvSpPr>
        <p:spPr>
          <a:xfrm>
            <a:off x="3482109" y="3084945"/>
            <a:ext cx="1714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30/60/90-day profiles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B2A5FBA-9613-A3C2-F4BB-CB3EA4824478}"/>
              </a:ext>
            </a:extLst>
          </p:cNvPr>
          <p:cNvSpPr/>
          <p:nvPr/>
        </p:nvSpPr>
        <p:spPr>
          <a:xfrm>
            <a:off x="5196609" y="3084945"/>
            <a:ext cx="1714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Volatility and sentiment history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E8CD1FB-DF3A-405C-E631-EC29E899B812}"/>
              </a:ext>
            </a:extLst>
          </p:cNvPr>
          <p:cNvSpPr/>
          <p:nvPr/>
        </p:nvSpPr>
        <p:spPr>
          <a:xfrm>
            <a:off x="6911109" y="3084945"/>
            <a:ext cx="2095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Spark + dbt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D53E4FE-E694-B53B-F46F-9DFC42D78252}"/>
              </a:ext>
            </a:extLst>
          </p:cNvPr>
          <p:cNvSpPr/>
          <p:nvPr/>
        </p:nvSpPr>
        <p:spPr>
          <a:xfrm>
            <a:off x="307109" y="3504045"/>
            <a:ext cx="1460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Dashboards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49A6F8C-229F-253A-92F6-351B493CE9D4}"/>
              </a:ext>
            </a:extLst>
          </p:cNvPr>
          <p:cNvSpPr/>
          <p:nvPr/>
        </p:nvSpPr>
        <p:spPr>
          <a:xfrm>
            <a:off x="1767609" y="3504045"/>
            <a:ext cx="1714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Fraud alerts and outcomes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A9AFB57-AA8E-4A02-E4BA-C750A4CE27D8}"/>
              </a:ext>
            </a:extLst>
          </p:cNvPr>
          <p:cNvSpPr/>
          <p:nvPr/>
        </p:nvSpPr>
        <p:spPr>
          <a:xfrm>
            <a:off x="3482109" y="3504045"/>
            <a:ext cx="1714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Risk profile trends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F66290D-6819-C563-2D55-4E8370A28A88}"/>
              </a:ext>
            </a:extLst>
          </p:cNvPr>
          <p:cNvSpPr/>
          <p:nvPr/>
        </p:nvSpPr>
        <p:spPr>
          <a:xfrm>
            <a:off x="5196609" y="3504045"/>
            <a:ext cx="1714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Market/exposure signals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DDC5D5-748D-EDB9-7F91-93B87C17C4F3}"/>
              </a:ext>
            </a:extLst>
          </p:cNvPr>
          <p:cNvSpPr/>
          <p:nvPr/>
        </p:nvSpPr>
        <p:spPr>
          <a:xfrm>
            <a:off x="6911109" y="3504045"/>
            <a:ext cx="2095500" cy="4191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ClickHouse + Superset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A80424E-4319-5867-FA3B-29AD4ADD7257}"/>
              </a:ext>
            </a:extLst>
          </p:cNvPr>
          <p:cNvSpPr/>
          <p:nvPr/>
        </p:nvSpPr>
        <p:spPr>
          <a:xfrm>
            <a:off x="307109" y="3923145"/>
            <a:ext cx="1460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Production trust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989B193-6AEA-2145-71A6-ECAD18334857}"/>
              </a:ext>
            </a:extLst>
          </p:cNvPr>
          <p:cNvSpPr/>
          <p:nvPr/>
        </p:nvSpPr>
        <p:spPr>
          <a:xfrm>
            <a:off x="1767609" y="3923145"/>
            <a:ext cx="1714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SLAs, quality gates, run history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A529416-A63F-EE5F-938D-C82875C124C4}"/>
              </a:ext>
            </a:extLst>
          </p:cNvPr>
          <p:cNvSpPr/>
          <p:nvPr/>
        </p:nvSpPr>
        <p:spPr>
          <a:xfrm>
            <a:off x="3482109" y="3923145"/>
            <a:ext cx="1714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Reliable feature publishing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22AE212-F62A-0D63-912B-7F5C6966E69E}"/>
              </a:ext>
            </a:extLst>
          </p:cNvPr>
          <p:cNvSpPr/>
          <p:nvPr/>
        </p:nvSpPr>
        <p:spPr>
          <a:xfrm>
            <a:off x="5196609" y="3923145"/>
            <a:ext cx="1714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Healthy jobs and metrics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C58BFE-C06D-8216-F2D0-0E343B37D12B}"/>
              </a:ext>
            </a:extLst>
          </p:cNvPr>
          <p:cNvSpPr/>
          <p:nvPr/>
        </p:nvSpPr>
        <p:spPr>
          <a:xfrm>
            <a:off x="6911109" y="3923145"/>
            <a:ext cx="2095500" cy="4191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sv-SE" sz="900" b="1">
                <a:solidFill>
                  <a:srgbClr val="111827"/>
                </a:solidFill>
                <a:latin typeface="Arial" panose="020B0604020202020204" pitchFamily="34" charset="0"/>
              </a:rPr>
              <a:t>Airflow + Docker + GX + Prom/Grafana</a:t>
            </a:r>
            <a:endParaRPr lang="en-US" sz="900" b="1">
              <a:solidFill>
                <a:srgbClr val="111827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569FF-BD33-45B9-B2CE-1C08359BE096}"/>
              </a:ext>
            </a:extLst>
          </p:cNvPr>
          <p:cNvSpPr txBox="1"/>
          <p:nvPr/>
        </p:nvSpPr>
        <p:spPr>
          <a:xfrm>
            <a:off x="488950" y="-56094"/>
            <a:ext cx="8255000" cy="5693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50" b="1" dirty="0">
                <a:solidFill>
                  <a:schemeClr val="bg1"/>
                </a:solidFill>
                <a:latin typeface="Arial" panose="020B0604020202020204" pitchFamily="34" charset="0"/>
              </a:rPr>
              <a:t>The technologies form one decision system across fraud, risk, and market intelligence.</a:t>
            </a:r>
          </a:p>
        </p:txBody>
      </p:sp>
    </p:spTree>
    <p:extLst>
      <p:ext uri="{BB962C8B-B14F-4D97-AF65-F5344CB8AC3E}">
        <p14:creationId xmlns:p14="http://schemas.microsoft.com/office/powerpoint/2010/main" val="3071042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0" y="0"/>
            <a:ext cx="9144000" cy="5080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65760" y="-137883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Description &amp; Core Idea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135780" y="890850"/>
            <a:ext cx="4114800" cy="3931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CF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318660" y="98229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What is FinStream?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318660" y="1320618"/>
            <a:ext cx="3749040" cy="3657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318660" y="1439490"/>
            <a:ext cx="374904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FinStream is a production-grade, end-to-end data engineering platform designed to ingest, process, store, and serve high-velocity financial and transactional data in real 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 combines a streaming speed layer (Apache Flink), a batch enrichment layer (Apache Spark), and a unified medallion lakehouse (MinIO + Apache Iceberg) to deliver a single source of truth for fraud detection, risk scoring, and market intelligence.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platform processes synthetic bank transactions, live market ticks, and social sentiment feeds simultaneously, making it a realistic simulation of an enterprise-grade financial intelligence system.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4524900" y="890850"/>
            <a:ext cx="4206240" cy="393192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1A3A8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4707780" y="98229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Core Idea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4707780" y="1320618"/>
            <a:ext cx="3749040" cy="3657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4707780" y="1540074"/>
            <a:ext cx="219456" cy="219456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4707780" y="154007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5000388" y="1503498"/>
            <a:ext cx="34747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C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8DCFA"/>
                </a:solidFill>
                <a:latin typeface="Calibri"/>
                <a:ea typeface="Calibri"/>
                <a:cs typeface="Calibri"/>
                <a:sym typeface="Calibri"/>
              </a:rPr>
              <a:t>Traditional financial platforms process data in hourly or daily batches — fraud is detected only after money is already moved. Bad Risk Scoring  and far from market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707780" y="2180154"/>
            <a:ext cx="219456" cy="219456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4707780" y="218015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5000388" y="214357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C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8DCFA"/>
                </a:solidFill>
                <a:latin typeface="Calibri"/>
                <a:ea typeface="Calibri"/>
                <a:cs typeface="Calibri"/>
                <a:sym typeface="Calibri"/>
              </a:rPr>
              <a:t>FinStream eliminates this lag using a Lambda Architecture: a real-time speed layer (Flink) and a batch layer (Spark) running in parallel.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4707780" y="2820234"/>
            <a:ext cx="219456" cy="219456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4707780" y="282023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5000388" y="278365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C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8DCFA"/>
                </a:solidFill>
                <a:latin typeface="Calibri"/>
                <a:ea typeface="Calibri"/>
                <a:cs typeface="Calibri"/>
                <a:sym typeface="Calibri"/>
              </a:rPr>
              <a:t>Every transaction is scored within milliseconds using ML models trained on historical Gold data and served live inside Flink.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4707780" y="3460314"/>
            <a:ext cx="219456" cy="219456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4707780" y="346031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000388" y="342373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C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8DCFA"/>
                </a:solidFill>
                <a:latin typeface="Calibri"/>
                <a:ea typeface="Calibri"/>
                <a:cs typeface="Calibri"/>
                <a:sym typeface="Calibri"/>
              </a:rPr>
              <a:t>Three Flink output paths run simultaneously: raw storage to MinIO Bronze, live scores to ClickHouse, and high-risk alerts to Kafka.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4707780" y="4100394"/>
            <a:ext cx="219456" cy="219456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4707780" y="410039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5000388" y="406381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C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8DCFA"/>
                </a:solidFill>
                <a:latin typeface="Calibri"/>
                <a:ea typeface="Calibri"/>
                <a:cs typeface="Calibri"/>
                <a:sym typeface="Calibri"/>
              </a:rPr>
              <a:t>The medallion lakehouse (Bronze → Silver → Gold) ensures all consumers share one governed, high-quality source of truth.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-1" y="0"/>
            <a:ext cx="9144000" cy="5080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365760" y="-1574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Flow Diagram </a:t>
            </a: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Sketch Using Draw.io”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5943600" y="0"/>
            <a:ext cx="29260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DCF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C8DCFA"/>
                </a:solidFill>
                <a:latin typeface="Calibri"/>
                <a:ea typeface="Calibri"/>
                <a:cs typeface="Calibri"/>
                <a:sym typeface="Calibri"/>
              </a:rPr>
              <a:t>FOR CLAIRTY PURPOSE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9BB89B-3CA7-FBF2-EE40-D877F68C6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000"/>
            <a:ext cx="9143999" cy="4635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0" y="0"/>
            <a:ext cx="9144000" cy="524133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365760" y="-173175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 – Tools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651" y="876940"/>
            <a:ext cx="2746866" cy="81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7" descr="Apache Flink icon - Free Download PNG &amp; SVG | Stream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2912" y="1164921"/>
            <a:ext cx="1761082" cy="1761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7" descr="Redis original wordmark logo - free Icon PNG,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1611" y="3834085"/>
            <a:ext cx="1059931" cy="105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7" descr="MinIO Client - Overview (O11) | OutSystem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655" y="2926003"/>
            <a:ext cx="1290084" cy="1290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7" descr="ClickHouse Essentials: A Beginner's Guide to ClickHouse's Architecture and  Performance | by Deepa J | Towards Dev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11735" y="3936417"/>
            <a:ext cx="4103728" cy="1231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7" descr="Getting Started with Apache Iceberg: Setup, Features &amp; Sample Scripts | by  Ramesh Hariharan | AI/ML &amp; Data Engineering Hub | Medium"/>
          <p:cNvPicPr preferRelativeResize="0"/>
          <p:nvPr/>
        </p:nvPicPr>
        <p:blipFill rotWithShape="1">
          <a:blip r:embed="rId8">
            <a:alphaModFix/>
          </a:blip>
          <a:srcRect l="25773" r="28867" b="-1613"/>
          <a:stretch/>
        </p:blipFill>
        <p:spPr>
          <a:xfrm>
            <a:off x="5064464" y="876940"/>
            <a:ext cx="1659890" cy="899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7" descr="dbt Trademark Guidelines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47722" y="978280"/>
            <a:ext cx="1911004" cy="47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47722" y="1850119"/>
            <a:ext cx="1911004" cy="738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7" descr="Ml Flow Wordmark Icon | Dashboard Icons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68201" y="1881703"/>
            <a:ext cx="2273850" cy="82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7" descr="Index of /res/superset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05132" y="2741675"/>
            <a:ext cx="1219171" cy="117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7" descr="Grafana logo - free Icon PNG, SV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55901" y="2441758"/>
            <a:ext cx="2488099" cy="1244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7" descr="Kafka Vector SVG Icon - SVG Repo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 descr="Kafka Vector SVG Icon - SVG Repo"/>
          <p:cNvSpPr/>
          <p:nvPr/>
        </p:nvSpPr>
        <p:spPr>
          <a:xfrm>
            <a:off x="4572000" y="25717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7" descr="Apache kafka logo - free Icon PNG, SV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923680" y="1075105"/>
            <a:ext cx="1982875" cy="991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7" descr="What is Prometheus and How to Add Prometheus To Your .NET Projects? | by  İhsan Deniz Yılmaz | VakıfBank Teknoloji | Medium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98441" y="3967166"/>
            <a:ext cx="2160285" cy="96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105860" y="2873977"/>
            <a:ext cx="2198523" cy="114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/>
          <p:nvPr/>
        </p:nvSpPr>
        <p:spPr>
          <a:xfrm>
            <a:off x="0" y="0"/>
            <a:ext cx="9144000" cy="542608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365760" y="-117759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Benefits &amp; Target Outcomes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74320" y="9601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Business Outcomes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274320" y="1298448"/>
            <a:ext cx="4023360" cy="36576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274320" y="1463040"/>
            <a:ext cx="64008" cy="4572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38912" y="146304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Fraud Detection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38912" y="17007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Transactions scored and flagged before they complete settlement.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274320" y="2130552"/>
            <a:ext cx="64008" cy="4572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438912" y="213055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Dynamic Risk Scoring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38912" y="236829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Risk profiles updated on every event — not on a daily batch schedule.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274320" y="2798064"/>
            <a:ext cx="64008" cy="4572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38912" y="2798064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Market Intelligence Signals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38912" y="30358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Real-time decisioning signals from prices, FX, and sentiment data.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274320" y="3465576"/>
            <a:ext cx="64008" cy="4572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438912" y="346557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Immutable Audit Trail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38912" y="37033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raw event preserved permanently in the Bronze layer for compliance.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74320" y="4133088"/>
            <a:ext cx="64008" cy="4572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438912" y="413308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Automated Actions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38912" y="437083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Card blocking and Slack/email alerts triggered without human intervention.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Technical / Portfolio Outcomes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754880" y="1298448"/>
            <a:ext cx="4114800" cy="3657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4754880" y="1463040"/>
            <a:ext cx="64008" cy="45720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4919472" y="146304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Full-Stack Data Engineering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919472" y="17007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Streaming, batch, lakehouse, MLOps, and DevOps — in one coherent system.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754880" y="2130552"/>
            <a:ext cx="64008" cy="45720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4919472" y="213055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Production-Grade Patterns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919472" y="236829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Exactly-once semantics, schema evolution, data quality contracts, model governance.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754880" y="2798064"/>
            <a:ext cx="64008" cy="45720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4919472" y="2798064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Enterprise-Transferable Stack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919472" y="30358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tool is industry-standard and in active use at Fortune 500 companies.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754880" y="3465576"/>
            <a:ext cx="64008" cy="45720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919472" y="346557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CI/CD Driven Platform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919472" y="37033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 Actions, Docker, and Airflow deliver automated testing and deployment.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754880" y="4133088"/>
            <a:ext cx="64008" cy="45720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4919472" y="413308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End-to-End Observability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919472" y="437083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Prometheus metrics and Grafana dashboards cover every layer of the platform.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480560" y="960120"/>
            <a:ext cx="36576" cy="3931920"/>
          </a:xfrm>
          <a:prstGeom prst="rect">
            <a:avLst/>
          </a:prstGeom>
          <a:solidFill>
            <a:srgbClr val="C8DCFA"/>
          </a:solidFill>
          <a:ln w="12700" cap="flat" cmpd="sng">
            <a:solidFill>
              <a:srgbClr val="C8DC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"/>
          <p:cNvSpPr/>
          <p:nvPr/>
        </p:nvSpPr>
        <p:spPr>
          <a:xfrm>
            <a:off x="0" y="0"/>
            <a:ext cx="9144000" cy="525882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65760" y="-131613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Datasets &amp; Sources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datasets are either open-source, freely accessible via API, or synthetically generated for portfolio and educational use.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" y="631175"/>
            <a:ext cx="8686799" cy="4153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/>
          <p:nvPr/>
        </p:nvSpPr>
        <p:spPr>
          <a:xfrm>
            <a:off x="0" y="0"/>
            <a:ext cx="9144000" cy="527379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365760" y="-159321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Sequence — Steps 1 to 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772400" y="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DCF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8DCFA"/>
                </a:solidFill>
                <a:latin typeface="Calibri"/>
                <a:ea typeface="Calibri"/>
                <a:cs typeface="Calibri"/>
                <a:sym typeface="Calibri"/>
              </a:rPr>
              <a:t>1 of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2" name="Google Shape;302;p10"/>
          <p:cNvGraphicFramePr/>
          <p:nvPr/>
        </p:nvGraphicFramePr>
        <p:xfrm>
          <a:off x="274320" y="623455"/>
          <a:ext cx="8595350" cy="4114800"/>
        </p:xfrm>
        <a:graphic>
          <a:graphicData uri="http://schemas.openxmlformats.org/drawingml/2006/table">
            <a:tbl>
              <a:tblPr>
                <a:noFill/>
                <a:tableStyleId>{48B6D277-3B14-48C6-AFF4-397AB73B0C76}</a:tableStyleId>
              </a:tblPr>
              <a:tblGrid>
                <a:gridCol w="29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7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#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Step Name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Tools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1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Data Generation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Source 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Python, Faker, Polygon.io, NewsAPI, Reddit API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Python scripts simulate 10K tx/sec. Market ticks pulled from Polygon.io. News sentiment fetched from NewsAPI and Reddit. Acts as the live event source.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2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Event Ingestion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Ingestion 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Apache Kafka, Confluent Schema Registry, Kafka Producer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Events published to 5 Kafka topics. Schema Registry validates all messages against Avro schemas. Bad messages routed to a Dead Letter Queue topic.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3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Stream Processing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Real-Time 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Apache Flink, Redis, PyFlink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Flink validates, enriches, and scores events in milliseconds. Redis provides sub-ms feature lookups. Outputs fan out to 3 parallel paths simultaneously.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3a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Path 1 — Raw Store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Flink Output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Flink Sink, MinIO, Parquet / Avro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All raw events written immutably to MinIO Bronze layer the moment Flink processes them. Creates permanent audit record for compliance and replay.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3b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Path 2 — Analytics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Flink Output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Flink Sink, ClickHouse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Real-time fraud scores and market signals written directly to ClickHouse. Enables sub-second dashboard queries without waiting for batch jobs.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3" name="Google Shape;30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7110" y="1644490"/>
            <a:ext cx="649779" cy="266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0" descr="Apache kafka logo - free Icon PNG,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1167" y="2209574"/>
            <a:ext cx="396238" cy="396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0" descr="Apache Flink icon - Free Download PNG &amp; SVG | Stream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84469" y="2768888"/>
            <a:ext cx="736419" cy="73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0" descr="Redis original wordmark logo - free Icon PNG,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3276" y="2977053"/>
            <a:ext cx="347798" cy="3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0" descr="MinIO Client - Overview (O11) | OutSystem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84469" y="3615237"/>
            <a:ext cx="423319" cy="423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0" descr="How to Monitor Parquet Files? Data Observability Configuration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83755" y="3696092"/>
            <a:ext cx="317319" cy="317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0" descr="ClickHouse Essentials: A Beginner's Guide to ClickHouse's Architecture and  Performance | by Deepa J | Towards Dev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16108" y="4318060"/>
            <a:ext cx="1346568" cy="403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/>
          <p:nvPr/>
        </p:nvSpPr>
        <p:spPr>
          <a:xfrm>
            <a:off x="0" y="0"/>
            <a:ext cx="9144000" cy="525882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365760" y="-1385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Sequence — Steps 6 to 9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7772400" y="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DCF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8DCFA"/>
                </a:solidFill>
                <a:latin typeface="Calibri"/>
                <a:ea typeface="Calibri"/>
                <a:cs typeface="Calibri"/>
                <a:sym typeface="Calibri"/>
              </a:rPr>
              <a:t>2 of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8" name="Google Shape;318;p11"/>
          <p:cNvGraphicFramePr/>
          <p:nvPr/>
        </p:nvGraphicFramePr>
        <p:xfrm>
          <a:off x="274320" y="665028"/>
          <a:ext cx="8595375" cy="4242800"/>
        </p:xfrm>
        <a:graphic>
          <a:graphicData uri="http://schemas.openxmlformats.org/drawingml/2006/table">
            <a:tbl>
              <a:tblPr>
                <a:noFill/>
                <a:tableStyleId>{48B6D277-3B14-48C6-AFF4-397AB73B0C76}</a:tableStyleId>
              </a:tblPr>
              <a:tblGrid>
                <a:gridCol w="33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#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Step Name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Tools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3c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Path 3 — Alerts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Flink Output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Flink Sink, Kafka fraud_alerts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High-risk events emitted to the fraud_alerts Kafka topic. Downstream consumers read this topic to trigger automated alerting and card-blocking actions.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4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3B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Lakehouse Storage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Storage 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MinIO, Apache Iceberg, dbt Core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Bronze → Silver → Gold medallion on MinIO with Iceberg as open table format. dbt Core manages SQL transformation logic between tiers.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5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Batch Processing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Batch 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Apache Spark, dbt Core, Airflow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Airflow-scheduled Spark jobs build customer profiles, risk features, and Gold marts. Great Expectations validates quality at each tier boundary.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6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ML Training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ML 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MLflow, scikit-learn, XGBoost, Feature Store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Models trained on Silver/Gold features, tracked in MLflow. Registered models deployed live into the Flink scoring pipeline via the Model Registry.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7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Serving &amp; Analytics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Serving 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ClickHouse, Apache Superset, Grafana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ClickHouse serves real-time and historical OLAP queries. Superset for dashboards. Grafana for system health. APIs expose scores to applications.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8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Alerting System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Alerting 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Python consumer, SMTP, Slack API, Card Management API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Python consumer reads fraud_alerts topic and dispatches email, Slack, and SMS notifications. Automated card-blocking via mock API.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</a:rPr>
                        <a:t>9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Infrastructure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</a:rPr>
                        <a:t>DevOps Layer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1E293B"/>
                          </a:solidFill>
                        </a:rPr>
                        <a:t>Docker, Airflow, GitHub Actions, Prometheus, Grafana</a:t>
                      </a:r>
                      <a:endParaRPr sz="10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</a:rPr>
                        <a:t>All services containerized in Docker. GitHub Actions CI/CD. Airflow orchestrates batch jobs. Prometheus + Grafana cover full observability.</a:t>
                      </a:r>
                      <a:endParaRPr sz="900" u="none" strike="noStrike" cap="none"/>
                    </a:p>
                  </a:txBody>
                  <a:tcPr marL="63500" marR="63500" marT="50800" marB="50800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19" name="Google Shape;319;p11" descr="Getting Started with Apache Iceberg: Setup, Features &amp; Sample Scripts | by  Ramesh Hariharan | AI/ML &amp; Data Engineering Hub | Medium"/>
          <p:cNvPicPr preferRelativeResize="0"/>
          <p:nvPr/>
        </p:nvPicPr>
        <p:blipFill rotWithShape="1">
          <a:blip r:embed="rId3">
            <a:alphaModFix/>
          </a:blip>
          <a:srcRect l="25773" r="28867" b="-1613"/>
          <a:stretch/>
        </p:blipFill>
        <p:spPr>
          <a:xfrm>
            <a:off x="3130550" y="1918856"/>
            <a:ext cx="463550" cy="328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1" descr="dbt Trademark Guideline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4637" y="2065940"/>
            <a:ext cx="627063" cy="156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2515230"/>
            <a:ext cx="627063" cy="24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1" descr="Ml Flow Wordmark Icon | Dashboard Icon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3028781"/>
            <a:ext cx="629700" cy="269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1" descr="Index of /res/superset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30550" y="3511632"/>
            <a:ext cx="400050" cy="38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1" descr="Grafana logo - free Icon PNG, SV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69363" y="3496591"/>
            <a:ext cx="629700" cy="408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1" descr="Prometheus Icon SVG Vector &amp; PNG Free Download | UXWi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69900" y="4588265"/>
            <a:ext cx="428625" cy="321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15541" y="2496612"/>
            <a:ext cx="627063" cy="269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32;p12">
            <a:extLst>
              <a:ext uri="{FF2B5EF4-FFF2-40B4-BE49-F238E27FC236}">
                <a16:creationId xmlns:a16="http://schemas.microsoft.com/office/drawing/2014/main" id="{B9B25B7B-295A-F5EF-F6C4-F505ACEC461F}"/>
              </a:ext>
            </a:extLst>
          </p:cNvPr>
          <p:cNvSpPr/>
          <p:nvPr/>
        </p:nvSpPr>
        <p:spPr>
          <a:xfrm>
            <a:off x="0" y="-5475"/>
            <a:ext cx="9144000" cy="525882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55C18-7422-9CFE-85D0-B44F7F8B9F74}"/>
              </a:ext>
            </a:extLst>
          </p:cNvPr>
          <p:cNvSpPr txBox="1"/>
          <p:nvPr/>
        </p:nvSpPr>
        <p:spPr>
          <a:xfrm>
            <a:off x="7594600" y="313192"/>
            <a:ext cx="13589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 b="1" dirty="0">
                <a:solidFill>
                  <a:schemeClr val="bg1"/>
                </a:solidFill>
                <a:latin typeface="Arial" panose="020B0604020202020204" pitchFamily="34" charset="0"/>
              </a:rPr>
              <a:t>SPEED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EAA52-7C35-B695-C5F0-9063436480E6}"/>
              </a:ext>
            </a:extLst>
          </p:cNvPr>
          <p:cNvSpPr txBox="1"/>
          <p:nvPr/>
        </p:nvSpPr>
        <p:spPr>
          <a:xfrm>
            <a:off x="190500" y="127910"/>
            <a:ext cx="8255000" cy="28469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50" b="1" dirty="0">
                <a:solidFill>
                  <a:schemeClr val="bg1"/>
                </a:solidFill>
                <a:latin typeface="Arial" panose="020B0604020202020204" pitchFamily="34" charset="0"/>
              </a:rPr>
              <a:t>Kafka, </a:t>
            </a:r>
            <a:r>
              <a:rPr lang="en-US" sz="1850" b="1" dirty="0" err="1">
                <a:solidFill>
                  <a:schemeClr val="bg1"/>
                </a:solidFill>
                <a:latin typeface="Arial" panose="020B0604020202020204" pitchFamily="34" charset="0"/>
              </a:rPr>
              <a:t>Flink</a:t>
            </a:r>
            <a:r>
              <a:rPr lang="en-US" sz="1850" b="1" dirty="0">
                <a:solidFill>
                  <a:schemeClr val="bg1"/>
                </a:solidFill>
                <a:latin typeface="Arial" panose="020B0604020202020204" pitchFamily="34" charset="0"/>
              </a:rPr>
              <a:t>, and Redis fit the fraud decision path.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9BC416-9129-063A-1D76-AA18F0AF1762}"/>
              </a:ext>
            </a:extLst>
          </p:cNvPr>
          <p:cNvSpPr txBox="1"/>
          <p:nvPr/>
        </p:nvSpPr>
        <p:spPr>
          <a:xfrm>
            <a:off x="314036" y="799807"/>
            <a:ext cx="8064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4B5563"/>
                </a:solidFill>
                <a:latin typeface="Arial" panose="020B0604020202020204" pitchFamily="34" charset="0"/>
              </a:rPr>
              <a:t>This is the part of </a:t>
            </a:r>
            <a:r>
              <a:rPr lang="en-US" sz="1600" b="1" dirty="0" err="1">
                <a:solidFill>
                  <a:srgbClr val="4B5563"/>
                </a:solidFill>
                <a:latin typeface="Arial" panose="020B0604020202020204" pitchFamily="34" charset="0"/>
              </a:rPr>
              <a:t>FinStream</a:t>
            </a:r>
            <a:r>
              <a:rPr lang="en-US" sz="1600" b="1" dirty="0">
                <a:solidFill>
                  <a:srgbClr val="4B5563"/>
                </a:solidFill>
                <a:latin typeface="Arial" panose="020B0604020202020204" pitchFamily="34" charset="0"/>
              </a:rPr>
              <a:t> that must act while the transaction is still fresh.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F4DB8A-429A-2E2E-43B2-69E2C303C56E}"/>
              </a:ext>
            </a:extLst>
          </p:cNvPr>
          <p:cNvSpPr/>
          <p:nvPr/>
        </p:nvSpPr>
        <p:spPr>
          <a:xfrm>
            <a:off x="596900" y="1587500"/>
            <a:ext cx="1841500" cy="5588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rial" panose="020B0604020202020204" pitchFamily="34" charset="0"/>
              </a:rPr>
              <a:t>Kafka
Event backbone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089643-3493-6F2E-9EED-516E0DF17FFB}"/>
              </a:ext>
            </a:extLst>
          </p:cNvPr>
          <p:cNvCxnSpPr/>
          <p:nvPr/>
        </p:nvCxnSpPr>
        <p:spPr>
          <a:xfrm>
            <a:off x="2476500" y="1866900"/>
            <a:ext cx="495300" cy="0"/>
          </a:xfrm>
          <a:prstGeom prst="line">
            <a:avLst/>
          </a:prstGeom>
          <a:ln w="20320">
            <a:solidFill>
              <a:srgbClr val="4472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B0E279-71BE-E8D7-7C22-B507E1FE4077}"/>
              </a:ext>
            </a:extLst>
          </p:cNvPr>
          <p:cNvSpPr/>
          <p:nvPr/>
        </p:nvSpPr>
        <p:spPr>
          <a:xfrm>
            <a:off x="3022600" y="1587500"/>
            <a:ext cx="2032000" cy="558800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50" b="1">
                <a:solidFill>
                  <a:srgbClr val="111827"/>
                </a:solidFill>
                <a:latin typeface="Arial" panose="020B0604020202020204" pitchFamily="34" charset="0"/>
              </a:rPr>
              <a:t>Schema Registry
Validated contracts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66FA70-4333-6E3D-A5C2-80F1AD4B5A87}"/>
              </a:ext>
            </a:extLst>
          </p:cNvPr>
          <p:cNvCxnSpPr/>
          <p:nvPr/>
        </p:nvCxnSpPr>
        <p:spPr>
          <a:xfrm>
            <a:off x="5105400" y="1866900"/>
            <a:ext cx="495300" cy="0"/>
          </a:xfrm>
          <a:prstGeom prst="line">
            <a:avLst/>
          </a:prstGeom>
          <a:ln w="20320">
            <a:solidFill>
              <a:srgbClr val="4472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D1149F-E6BD-28B8-DC6D-8615D11905EE}"/>
              </a:ext>
            </a:extLst>
          </p:cNvPr>
          <p:cNvSpPr/>
          <p:nvPr/>
        </p:nvSpPr>
        <p:spPr>
          <a:xfrm>
            <a:off x="5651500" y="1587500"/>
            <a:ext cx="1714500" cy="5588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rial" panose="020B0604020202020204" pitchFamily="34" charset="0"/>
              </a:rPr>
              <a:t>Flink
Stateful scoring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7E1CB6-C612-D4D8-7A17-25918B706D91}"/>
              </a:ext>
            </a:extLst>
          </p:cNvPr>
          <p:cNvCxnSpPr/>
          <p:nvPr/>
        </p:nvCxnSpPr>
        <p:spPr>
          <a:xfrm>
            <a:off x="6515100" y="2184400"/>
            <a:ext cx="0" cy="482600"/>
          </a:xfrm>
          <a:prstGeom prst="line">
            <a:avLst/>
          </a:prstGeom>
          <a:ln w="20320">
            <a:solidFill>
              <a:srgbClr val="4B556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CBFF3D-E637-5DE3-EC84-BCE8C229DAC7}"/>
              </a:ext>
            </a:extLst>
          </p:cNvPr>
          <p:cNvSpPr/>
          <p:nvPr/>
        </p:nvSpPr>
        <p:spPr>
          <a:xfrm>
            <a:off x="5651500" y="2730500"/>
            <a:ext cx="1714500" cy="558800"/>
          </a:xfrm>
          <a:prstGeom prst="round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rial" panose="020B0604020202020204" pitchFamily="34" charset="0"/>
              </a:rPr>
              <a:t>Redis
Feature lookup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0CA722-9F77-57CE-E990-34BC75357052}"/>
              </a:ext>
            </a:extLst>
          </p:cNvPr>
          <p:cNvCxnSpPr/>
          <p:nvPr/>
        </p:nvCxnSpPr>
        <p:spPr>
          <a:xfrm>
            <a:off x="7416800" y="1866900"/>
            <a:ext cx="533400" cy="0"/>
          </a:xfrm>
          <a:prstGeom prst="line">
            <a:avLst/>
          </a:prstGeom>
          <a:ln w="20320">
            <a:solidFill>
              <a:srgbClr val="4472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D204B9-D0FE-DFE2-509D-684E896E482D}"/>
              </a:ext>
            </a:extLst>
          </p:cNvPr>
          <p:cNvSpPr/>
          <p:nvPr/>
        </p:nvSpPr>
        <p:spPr>
          <a:xfrm>
            <a:off x="8001000" y="1587500"/>
            <a:ext cx="889000" cy="5588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850" b="1">
                <a:solidFill>
                  <a:srgbClr val="111827"/>
                </a:solidFill>
                <a:latin typeface="Arial" panose="020B0604020202020204" pitchFamily="34" charset="0"/>
              </a:rPr>
              <a:t>Action
approve/review/block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C20067-F52E-AA73-1371-B8B7975D0A9B}"/>
              </a:ext>
            </a:extLst>
          </p:cNvPr>
          <p:cNvSpPr/>
          <p:nvPr/>
        </p:nvSpPr>
        <p:spPr>
          <a:xfrm>
            <a:off x="571500" y="3429000"/>
            <a:ext cx="1905000" cy="2794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FFFFFF"/>
                </a:solidFill>
                <a:latin typeface="Arial" panose="020B0604020202020204" pitchFamily="34" charset="0"/>
              </a:rPr>
              <a:t>Tool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B14A3B8-1C15-E0C7-C9F3-923387815B3E}"/>
              </a:ext>
            </a:extLst>
          </p:cNvPr>
          <p:cNvSpPr/>
          <p:nvPr/>
        </p:nvSpPr>
        <p:spPr>
          <a:xfrm>
            <a:off x="2476500" y="3429000"/>
            <a:ext cx="2159000" cy="2794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FFFFFF"/>
                </a:solidFill>
                <a:latin typeface="Arial" panose="020B0604020202020204" pitchFamily="34" charset="0"/>
              </a:rPr>
              <a:t>Use Case Fit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F00CC59-6C14-F403-E859-B67FA1E65A19}"/>
              </a:ext>
            </a:extLst>
          </p:cNvPr>
          <p:cNvSpPr/>
          <p:nvPr/>
        </p:nvSpPr>
        <p:spPr>
          <a:xfrm>
            <a:off x="4635500" y="3429000"/>
            <a:ext cx="4000500" cy="2794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40" b="1">
                <a:solidFill>
                  <a:srgbClr val="FFFFFF"/>
                </a:solidFill>
                <a:latin typeface="Arial" panose="020B0604020202020204" pitchFamily="34" charset="0"/>
              </a:rPr>
              <a:t>Advantages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F6F519-83E3-41DF-C096-42C37E57E01F}"/>
              </a:ext>
            </a:extLst>
          </p:cNvPr>
          <p:cNvSpPr/>
          <p:nvPr/>
        </p:nvSpPr>
        <p:spPr>
          <a:xfrm>
            <a:off x="571500" y="3708400"/>
            <a:ext cx="1905000" cy="2794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20" b="1">
                <a:solidFill>
                  <a:srgbClr val="111827"/>
                </a:solidFill>
                <a:latin typeface="Arial" panose="020B0604020202020204" pitchFamily="34" charset="0"/>
              </a:rPr>
              <a:t>Kafka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42CFCB5-49B8-96BD-48F4-B6CC79535463}"/>
              </a:ext>
            </a:extLst>
          </p:cNvPr>
          <p:cNvSpPr/>
          <p:nvPr/>
        </p:nvSpPr>
        <p:spPr>
          <a:xfrm>
            <a:off x="2476500" y="3708400"/>
            <a:ext cx="2159000" cy="2794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20" b="1">
                <a:solidFill>
                  <a:srgbClr val="111827"/>
                </a:solidFill>
                <a:latin typeface="Arial" panose="020B0604020202020204" pitchFamily="34" charset="0"/>
              </a:rPr>
              <a:t>Transactions, market ticks, news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4D1663-CD7F-0040-84F0-511510741E11}"/>
              </a:ext>
            </a:extLst>
          </p:cNvPr>
          <p:cNvSpPr/>
          <p:nvPr/>
        </p:nvSpPr>
        <p:spPr>
          <a:xfrm>
            <a:off x="4635500" y="3708400"/>
            <a:ext cx="4000500" cy="2794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620" b="1">
                <a:solidFill>
                  <a:srgbClr val="111827"/>
                </a:solidFill>
                <a:latin typeface="Arial" panose="020B0604020202020204" pitchFamily="34" charset="0"/>
              </a:rPr>
              <a:t>Durable event stream; decouples producers from processors and sinks.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ED37F59-FF47-3589-9162-0A815F4ED438}"/>
              </a:ext>
            </a:extLst>
          </p:cNvPr>
          <p:cNvSpPr/>
          <p:nvPr/>
        </p:nvSpPr>
        <p:spPr>
          <a:xfrm>
            <a:off x="571500" y="3987800"/>
            <a:ext cx="1905000" cy="2794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20" b="1">
                <a:solidFill>
                  <a:srgbClr val="111827"/>
                </a:solidFill>
                <a:latin typeface="Arial" panose="020B0604020202020204" pitchFamily="34" charset="0"/>
              </a:rPr>
              <a:t>Schema Registry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6FA4388-B9D6-C0E4-6BF7-CAB425AA0425}"/>
              </a:ext>
            </a:extLst>
          </p:cNvPr>
          <p:cNvSpPr/>
          <p:nvPr/>
        </p:nvSpPr>
        <p:spPr>
          <a:xfrm>
            <a:off x="2476500" y="3987800"/>
            <a:ext cx="2159000" cy="2794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20" b="1">
                <a:solidFill>
                  <a:srgbClr val="111827"/>
                </a:solidFill>
                <a:latin typeface="Arial" panose="020B0604020202020204" pitchFamily="34" charset="0"/>
              </a:rPr>
              <a:t>Financial event contracts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8F6961F-0EC2-A9EC-ECBF-06BAA4E1ABD2}"/>
              </a:ext>
            </a:extLst>
          </p:cNvPr>
          <p:cNvSpPr/>
          <p:nvPr/>
        </p:nvSpPr>
        <p:spPr>
          <a:xfrm>
            <a:off x="4635500" y="3987800"/>
            <a:ext cx="4000500" cy="2794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680" b="1">
                <a:solidFill>
                  <a:srgbClr val="111827"/>
                </a:solidFill>
                <a:latin typeface="Arial" panose="020B0604020202020204" pitchFamily="34" charset="0"/>
              </a:rPr>
              <a:t>Prevents silent schema drift across topics.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47BC74C-9D37-7358-070E-EF3D0E3889E7}"/>
              </a:ext>
            </a:extLst>
          </p:cNvPr>
          <p:cNvSpPr/>
          <p:nvPr/>
        </p:nvSpPr>
        <p:spPr>
          <a:xfrm>
            <a:off x="571500" y="4267200"/>
            <a:ext cx="1905000" cy="2794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20" b="1">
                <a:solidFill>
                  <a:srgbClr val="111827"/>
                </a:solidFill>
                <a:latin typeface="Arial" panose="020B0604020202020204" pitchFamily="34" charset="0"/>
              </a:rPr>
              <a:t>Flink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3AD448-0BBB-BBBE-255F-D6CBB617DC50}"/>
              </a:ext>
            </a:extLst>
          </p:cNvPr>
          <p:cNvSpPr/>
          <p:nvPr/>
        </p:nvSpPr>
        <p:spPr>
          <a:xfrm>
            <a:off x="2476500" y="4267200"/>
            <a:ext cx="2159000" cy="2794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20" b="1">
                <a:solidFill>
                  <a:srgbClr val="111827"/>
                </a:solidFill>
                <a:latin typeface="Arial" panose="020B0604020202020204" pitchFamily="34" charset="0"/>
              </a:rPr>
              <a:t>Fraud + risk scoring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776C475-E207-8403-E7E7-5C61BEF639EF}"/>
              </a:ext>
            </a:extLst>
          </p:cNvPr>
          <p:cNvSpPr/>
          <p:nvPr/>
        </p:nvSpPr>
        <p:spPr>
          <a:xfrm>
            <a:off x="4635500" y="4267200"/>
            <a:ext cx="4000500" cy="2794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620" b="1">
                <a:solidFill>
                  <a:srgbClr val="111827"/>
                </a:solidFill>
                <a:latin typeface="Arial" panose="020B0604020202020204" pitchFamily="34" charset="0"/>
              </a:rPr>
              <a:t>Stateful event-time windows, joins, and low-latency enrichment.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8499BC0-0815-30CC-97F0-09A3B0EBA9BD}"/>
              </a:ext>
            </a:extLst>
          </p:cNvPr>
          <p:cNvSpPr/>
          <p:nvPr/>
        </p:nvSpPr>
        <p:spPr>
          <a:xfrm>
            <a:off x="571500" y="4546600"/>
            <a:ext cx="1905000" cy="2794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20" b="1">
                <a:solidFill>
                  <a:srgbClr val="111827"/>
                </a:solidFill>
                <a:latin typeface="Arial" panose="020B0604020202020204" pitchFamily="34" charset="0"/>
              </a:rPr>
              <a:t>Redis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534C420-3316-4C63-3974-99E5B0C67439}"/>
              </a:ext>
            </a:extLst>
          </p:cNvPr>
          <p:cNvSpPr/>
          <p:nvPr/>
        </p:nvSpPr>
        <p:spPr>
          <a:xfrm>
            <a:off x="2476500" y="4546600"/>
            <a:ext cx="2159000" cy="2794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20" b="1">
                <a:solidFill>
                  <a:srgbClr val="111827"/>
                </a:solidFill>
                <a:latin typeface="Arial" panose="020B0604020202020204" pitchFamily="34" charset="0"/>
              </a:rPr>
              <a:t>Online features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4D02DE7-A629-EFAA-A042-CF5AEF55AAB1}"/>
              </a:ext>
            </a:extLst>
          </p:cNvPr>
          <p:cNvSpPr/>
          <p:nvPr/>
        </p:nvSpPr>
        <p:spPr>
          <a:xfrm>
            <a:off x="4635500" y="4546600"/>
            <a:ext cx="4000500" cy="279400"/>
          </a:xfrm>
          <a:prstGeom prst="roundRect">
            <a:avLst/>
          </a:prstGeom>
          <a:solidFill>
            <a:srgbClr val="EEF3FA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680" b="1">
                <a:solidFill>
                  <a:srgbClr val="111827"/>
                </a:solidFill>
                <a:latin typeface="Arial" panose="020B0604020202020204" pitchFamily="34" charset="0"/>
              </a:rPr>
              <a:t>Fast customer/card/merchant risk lookup during scoring.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525416-9BA7-1C75-21A5-3453C0D0710C}"/>
              </a:ext>
            </a:extLst>
          </p:cNvPr>
          <p:cNvSpPr txBox="1"/>
          <p:nvPr/>
        </p:nvSpPr>
        <p:spPr>
          <a:xfrm>
            <a:off x="571500" y="4978400"/>
            <a:ext cx="787400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580" b="1">
                <a:solidFill>
                  <a:srgbClr val="4B5563"/>
                </a:solidFill>
                <a:latin typeface="Arial" panose="020B0604020202020204" pitchFamily="34" charset="0"/>
              </a:rPr>
              <a:t>Sources: Apache Kafka introduction; Apache Flink stateful stream processing docs; Redis docs.</a:t>
            </a:r>
          </a:p>
        </p:txBody>
      </p:sp>
    </p:spTree>
    <p:extLst>
      <p:ext uri="{BB962C8B-B14F-4D97-AF65-F5344CB8AC3E}">
        <p14:creationId xmlns:p14="http://schemas.microsoft.com/office/powerpoint/2010/main" val="2940010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"/>
          <p:cNvSpPr/>
          <p:nvPr/>
        </p:nvSpPr>
        <p:spPr>
          <a:xfrm>
            <a:off x="0" y="0"/>
            <a:ext cx="9144000" cy="525882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365760" y="-131613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 of Work — Team of 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228600" y="960120"/>
            <a:ext cx="420624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228600" y="960120"/>
            <a:ext cx="502920" cy="118872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228600" y="13716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822960" y="1005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Ingestion Engineer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822960" y="130759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data producers, Kafka topic design &amp; partitioning, Schema Registry setup, DLQ monitoring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822960" y="184708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Python · Kafka · Avro · Schema Registry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228600" y="2331720"/>
            <a:ext cx="420624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228600" y="2331720"/>
            <a:ext cx="502920" cy="11887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228600" y="27432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Stream Processing Engineer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822960" y="267919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3 Flink output paths, Redis feature store integration, real-time fraud/risk scoring, stateful ops &amp; exactly-once semantics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822960" y="321868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Apache Flink · Redis · PyFlink · Java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228600" y="3703320"/>
            <a:ext cx="420624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228600" y="3703320"/>
            <a:ext cx="502920" cy="1188720"/>
          </a:xfrm>
          <a:prstGeom prst="rect">
            <a:avLst/>
          </a:prstGeom>
          <a:solidFill>
            <a:srgbClr val="3B3B98"/>
          </a:solidFill>
          <a:ln w="12700" cap="flat" cmpd="sng">
            <a:solidFill>
              <a:srgbClr val="3B3B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228600" y="41148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822960" y="3749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Lakehouse &amp; Transformation Eng.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22960" y="405079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MinIO setup, Iceberg table design, dbt models (Bronze→Silver→Gold), Great Expectations quality checks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822960" y="459028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98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3B3B98"/>
                </a:solidFill>
                <a:latin typeface="Calibri"/>
                <a:ea typeface="Calibri"/>
                <a:cs typeface="Calibri"/>
                <a:sym typeface="Calibri"/>
              </a:rPr>
              <a:t>MinIO · Iceberg · dbt Core · SQL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663440" y="960120"/>
            <a:ext cx="420624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4663440" y="960120"/>
            <a:ext cx="502920" cy="118872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4663440" y="13716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5257800" y="1005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Batch Processing &amp; Analytics Eng.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5257800" y="130759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Spark batch jobs, ClickHouse schema &amp; ingestion, Superset dashboard development, ad-hoc SQL analytics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5257800" y="184708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Spark · ClickHouse · SQL · Superset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663440" y="2331720"/>
            <a:ext cx="420624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4663440" y="2331720"/>
            <a:ext cx="502920" cy="1188720"/>
          </a:xfrm>
          <a:prstGeom prst="rect">
            <a:avLst/>
          </a:prstGeom>
          <a:solidFill>
            <a:srgbClr val="9B5DE5"/>
          </a:solidFill>
          <a:ln w="12700" cap="flat" cmpd="sng">
            <a:solidFill>
              <a:srgbClr val="9B5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4663440" y="27432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5257800" y="2377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ML &amp; Feature Engineering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5257800" y="267919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Feature pipelines from Silver/Gold, model training &amp; evaluation, MLflow tracking, model registry, live Flink inference integration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257800" y="321868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9B5DE5"/>
                </a:solidFill>
                <a:latin typeface="Calibri"/>
                <a:ea typeface="Calibri"/>
                <a:cs typeface="Calibri"/>
                <a:sym typeface="Calibri"/>
              </a:rPr>
              <a:t>Python · MLflow · scikit-learn · XGBoost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4663440" y="3703320"/>
            <a:ext cx="420624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4663440" y="3703320"/>
            <a:ext cx="502920" cy="1188720"/>
          </a:xfrm>
          <a:prstGeom prst="rect">
            <a:avLst/>
          </a:prstGeom>
          <a:solidFill>
            <a:srgbClr val="D4524A"/>
          </a:solidFill>
          <a:ln w="12700" cap="flat" cmpd="sng">
            <a:solidFill>
              <a:srgbClr val="D452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4663440" y="41148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5257800" y="3749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Platform Engineering &amp; DevOps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257800" y="405079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Docker Compose setup, GitHub Actions CI/CD, Airflow DAGs, Prometheus &amp; Grafana monitoring, alerting system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257800" y="459028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524A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D4524A"/>
                </a:solidFill>
                <a:latin typeface="Calibri"/>
                <a:ea typeface="Calibri"/>
                <a:cs typeface="Calibri"/>
                <a:sym typeface="Calibri"/>
              </a:rPr>
              <a:t>Docker · Airflow · GitHub Actions · Grafana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"/>
          <p:cNvSpPr/>
          <p:nvPr/>
        </p:nvSpPr>
        <p:spPr>
          <a:xfrm>
            <a:off x="0" y="0"/>
            <a:ext cx="9144000" cy="525882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365760" y="-145467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Category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90055" y="731253"/>
            <a:ext cx="868680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4"/>
          <p:cNvSpPr/>
          <p:nvPr/>
        </p:nvSpPr>
        <p:spPr>
          <a:xfrm>
            <a:off x="90055" y="731253"/>
            <a:ext cx="1188720" cy="68580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90055" y="731253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 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1415935" y="822693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Qualifies on all three Vs: Volume (10K tx/sec), Velocity (sub-second processing), and Variety (transactions, market ticks, news, FX).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90055" y="1526781"/>
            <a:ext cx="868680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90055" y="1526781"/>
            <a:ext cx="1188720" cy="6858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90055" y="1526781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Lambda Architecture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1415935" y="1618221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Speed layer (Flink real-time) + batch layer (Spark) run in parallel and reconcile in ClickHouse — the textbook Lambda pattern.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90055" y="2322309"/>
            <a:ext cx="868680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90055" y="2322309"/>
            <a:ext cx="1188720" cy="685800"/>
          </a:xfrm>
          <a:prstGeom prst="rect">
            <a:avLst/>
          </a:prstGeom>
          <a:solidFill>
            <a:srgbClr val="3B3B98"/>
          </a:solidFill>
          <a:ln w="12700" cap="flat" cmpd="sng">
            <a:solidFill>
              <a:srgbClr val="3B3B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90055" y="2322309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Lakehouse Architecture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1415935" y="2413749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MinIO + Apache Iceberg + Bronze/Silver/Gold medallion pattern combines data lake flexibility with data warehouse governance.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90055" y="3117837"/>
            <a:ext cx="868680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90055" y="3117837"/>
            <a:ext cx="1188720" cy="6858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90055" y="3117837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MLOps Platform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415935" y="3209277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MLflow tracking, feature store, model registry, and live Flink inference make this a full MLOps system, not just a data pipeline.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90055" y="3913365"/>
            <a:ext cx="8686800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90055" y="3913365"/>
            <a:ext cx="1188720" cy="685800"/>
          </a:xfrm>
          <a:prstGeom prst="rect">
            <a:avLst/>
          </a:prstGeom>
          <a:solidFill>
            <a:srgbClr val="9B5DE5"/>
          </a:solidFill>
          <a:ln w="12700" cap="flat" cmpd="sng">
            <a:solidFill>
              <a:srgbClr val="9B5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90055" y="3913365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DataOps / Platform Eng.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1415935" y="4004805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CI/CD with GitHub Actions, Airflow orchestration, Great Expectations quality gates, and full Prometheus + Grafana observability.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168432" y="4694754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Portfolio positioning: "A production-grade Lakehouse + Lambda architecture with an embedded MLOps layer, designed for real-time financial intelligence at enterprise scale."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32;p12">
            <a:extLst>
              <a:ext uri="{FF2B5EF4-FFF2-40B4-BE49-F238E27FC236}">
                <a16:creationId xmlns:a16="http://schemas.microsoft.com/office/drawing/2014/main" id="{5492309B-CAE1-854E-3DA9-C81A6800634B}"/>
              </a:ext>
            </a:extLst>
          </p:cNvPr>
          <p:cNvSpPr/>
          <p:nvPr/>
        </p:nvSpPr>
        <p:spPr>
          <a:xfrm>
            <a:off x="0" y="-28981"/>
            <a:ext cx="9144000" cy="525882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B80AE-5A54-9A45-4A9F-FAF9E0D1A36C}"/>
              </a:ext>
            </a:extLst>
          </p:cNvPr>
          <p:cNvSpPr txBox="1"/>
          <p:nvPr/>
        </p:nvSpPr>
        <p:spPr>
          <a:xfrm>
            <a:off x="7913254" y="203011"/>
            <a:ext cx="937492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 b="1" dirty="0">
                <a:solidFill>
                  <a:schemeClr val="bg1"/>
                </a:solidFill>
                <a:latin typeface="Arial" panose="020B0604020202020204" pitchFamily="34" charset="0"/>
              </a:rPr>
              <a:t>LAKEHOUSE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78D4B-F58C-1933-4900-C8BC5B3F606E}"/>
              </a:ext>
            </a:extLst>
          </p:cNvPr>
          <p:cNvSpPr txBox="1"/>
          <p:nvPr/>
        </p:nvSpPr>
        <p:spPr>
          <a:xfrm>
            <a:off x="190500" y="60665"/>
            <a:ext cx="8255000" cy="28469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50" b="1" dirty="0" err="1">
                <a:solidFill>
                  <a:schemeClr val="bg1"/>
                </a:solidFill>
                <a:latin typeface="Arial" panose="020B0604020202020204" pitchFamily="34" charset="0"/>
              </a:rPr>
              <a:t>MinIO</a:t>
            </a:r>
            <a:r>
              <a:rPr lang="en-US" sz="1850" b="1" dirty="0">
                <a:solidFill>
                  <a:schemeClr val="bg1"/>
                </a:solidFill>
                <a:latin typeface="Arial" panose="020B0604020202020204" pitchFamily="34" charset="0"/>
              </a:rPr>
              <a:t>, Iceberg, Spark, and </a:t>
            </a:r>
            <a:r>
              <a:rPr lang="en-US" sz="1850" b="1" dirty="0" err="1">
                <a:solidFill>
                  <a:schemeClr val="bg1"/>
                </a:solidFill>
                <a:latin typeface="Arial" panose="020B0604020202020204" pitchFamily="34" charset="0"/>
              </a:rPr>
              <a:t>dbt</a:t>
            </a:r>
            <a:r>
              <a:rPr lang="en-US" sz="1850" b="1" dirty="0">
                <a:solidFill>
                  <a:schemeClr val="bg1"/>
                </a:solidFill>
                <a:latin typeface="Arial" panose="020B0604020202020204" pitchFamily="34" charset="0"/>
              </a:rPr>
              <a:t> make the raw data trustworthy.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C47D5-F564-2F97-0E82-F02ED408E72B}"/>
              </a:ext>
            </a:extLst>
          </p:cNvPr>
          <p:cNvSpPr txBox="1"/>
          <p:nvPr/>
        </p:nvSpPr>
        <p:spPr>
          <a:xfrm>
            <a:off x="190500" y="670810"/>
            <a:ext cx="8722591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dirty="0">
                <a:solidFill>
                  <a:srgbClr val="4B5563"/>
                </a:solidFill>
                <a:latin typeface="Arial" panose="020B0604020202020204" pitchFamily="34" charset="0"/>
              </a:rPr>
              <a:t>The goal is not only storage; it is replay, audit, feature building, and repeatable business logic.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1D940F-C7D0-A95A-A8A3-131FF390AD93}"/>
              </a:ext>
            </a:extLst>
          </p:cNvPr>
          <p:cNvSpPr/>
          <p:nvPr/>
        </p:nvSpPr>
        <p:spPr>
          <a:xfrm>
            <a:off x="736600" y="1752600"/>
            <a:ext cx="2159000" cy="2349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000" b="1" dirty="0">
                <a:solidFill>
                  <a:srgbClr val="111827"/>
                </a:solidFill>
                <a:latin typeface="Arial" panose="020B0604020202020204" pitchFamily="34" charset="0"/>
              </a:rPr>
              <a:t>Bronze
Raw immutable events
</a:t>
            </a:r>
            <a:r>
              <a:rPr lang="en-US" sz="1000" b="1" dirty="0" err="1">
                <a:solidFill>
                  <a:srgbClr val="111827"/>
                </a:solidFill>
                <a:latin typeface="Arial" panose="020B0604020202020204" pitchFamily="34" charset="0"/>
              </a:rPr>
              <a:t>MinIO</a:t>
            </a:r>
            <a:r>
              <a:rPr lang="en-US" sz="1000" b="1" dirty="0">
                <a:solidFill>
                  <a:srgbClr val="111827"/>
                </a:solidFill>
                <a:latin typeface="Arial" panose="020B0604020202020204" pitchFamily="34" charset="0"/>
              </a:rPr>
              <a:t> stores event history in S3-compatible object storage.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31FF4C-5D02-3A4A-9A42-523F17DAA9EC}"/>
              </a:ext>
            </a:extLst>
          </p:cNvPr>
          <p:cNvCxnSpPr/>
          <p:nvPr/>
        </p:nvCxnSpPr>
        <p:spPr>
          <a:xfrm>
            <a:off x="2946400" y="2832100"/>
            <a:ext cx="508000" cy="0"/>
          </a:xfrm>
          <a:prstGeom prst="line">
            <a:avLst/>
          </a:prstGeom>
          <a:ln w="20320">
            <a:solidFill>
              <a:srgbClr val="4B556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4EA8EA-FB1C-C2EC-4C2A-9C369EDDB8B5}"/>
              </a:ext>
            </a:extLst>
          </p:cNvPr>
          <p:cNvSpPr/>
          <p:nvPr/>
        </p:nvSpPr>
        <p:spPr>
          <a:xfrm>
            <a:off x="3505200" y="1752600"/>
            <a:ext cx="2159000" cy="2349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000" b="1" dirty="0">
                <a:solidFill>
                  <a:srgbClr val="111827"/>
                </a:solidFill>
                <a:latin typeface="Arial" panose="020B0604020202020204" pitchFamily="34" charset="0"/>
              </a:rPr>
              <a:t>Silver
Cleaned + conformed
Iceberg gives open analytic tables, snapshots, schema evolution, and engine interoperability.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70BBB-A155-4651-C27A-6C2CA4D8EB20}"/>
              </a:ext>
            </a:extLst>
          </p:cNvPr>
          <p:cNvCxnSpPr/>
          <p:nvPr/>
        </p:nvCxnSpPr>
        <p:spPr>
          <a:xfrm>
            <a:off x="5715000" y="2832100"/>
            <a:ext cx="508000" cy="0"/>
          </a:xfrm>
          <a:prstGeom prst="line">
            <a:avLst/>
          </a:prstGeom>
          <a:ln w="20320">
            <a:solidFill>
              <a:srgbClr val="4B556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33D292-89AA-20FA-0777-9EC357826EE7}"/>
              </a:ext>
            </a:extLst>
          </p:cNvPr>
          <p:cNvSpPr/>
          <p:nvPr/>
        </p:nvSpPr>
        <p:spPr>
          <a:xfrm>
            <a:off x="6273800" y="1752600"/>
            <a:ext cx="2159000" cy="23495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rial" panose="020B0604020202020204" pitchFamily="34" charset="0"/>
              </a:rPr>
              <a:t>Gold
Trusted features
Spark and </a:t>
            </a:r>
            <a:r>
              <a:rPr lang="en-US" sz="1050" b="1" dirty="0" err="1">
                <a:solidFill>
                  <a:srgbClr val="111827"/>
                </a:solidFill>
                <a:latin typeface="Arial" panose="020B0604020202020204" pitchFamily="34" charset="0"/>
              </a:rPr>
              <a:t>dbt</a:t>
            </a:r>
            <a:r>
              <a:rPr lang="en-US" sz="1050" b="1" dirty="0">
                <a:solidFill>
                  <a:srgbClr val="111827"/>
                </a:solidFill>
                <a:latin typeface="Arial" panose="020B0604020202020204" pitchFamily="34" charset="0"/>
              </a:rPr>
              <a:t> build model features, risk profiles, aggregations, and dashboard-ready marts.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9969F5-5485-932F-E371-92B03CE3FF84}"/>
              </a:ext>
            </a:extLst>
          </p:cNvPr>
          <p:cNvSpPr/>
          <p:nvPr/>
        </p:nvSpPr>
        <p:spPr>
          <a:xfrm>
            <a:off x="736600" y="1701800"/>
            <a:ext cx="2159000" cy="63500"/>
          </a:xfrm>
          <a:prstGeom prst="rect">
            <a:avLst/>
          </a:prstGeom>
          <a:solidFill>
            <a:srgbClr val="70AD4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04D283-787E-9B68-70CF-BD917AD51EB6}"/>
              </a:ext>
            </a:extLst>
          </p:cNvPr>
          <p:cNvSpPr/>
          <p:nvPr/>
        </p:nvSpPr>
        <p:spPr>
          <a:xfrm>
            <a:off x="3505200" y="1701800"/>
            <a:ext cx="2159000" cy="63500"/>
          </a:xfrm>
          <a:prstGeom prst="rect">
            <a:avLst/>
          </a:prstGeom>
          <a:solidFill>
            <a:srgbClr val="4472C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4FA4DD-2836-F617-337D-814CA37A60BC}"/>
              </a:ext>
            </a:extLst>
          </p:cNvPr>
          <p:cNvSpPr/>
          <p:nvPr/>
        </p:nvSpPr>
        <p:spPr>
          <a:xfrm>
            <a:off x="6273800" y="1701800"/>
            <a:ext cx="2159000" cy="63500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382F28-4DC1-DD94-7EA0-E1B3714FF845}"/>
              </a:ext>
            </a:extLst>
          </p:cNvPr>
          <p:cNvSpPr/>
          <p:nvPr/>
        </p:nvSpPr>
        <p:spPr>
          <a:xfrm>
            <a:off x="635000" y="4381500"/>
            <a:ext cx="18415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MinIO
S3-compatible object storage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92B177-78A8-F805-17D3-574F1BC33053}"/>
              </a:ext>
            </a:extLst>
          </p:cNvPr>
          <p:cNvSpPr/>
          <p:nvPr/>
        </p:nvSpPr>
        <p:spPr>
          <a:xfrm>
            <a:off x="2603500" y="4381500"/>
            <a:ext cx="18415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Iceberg
Open analytic table format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4C3686F-E31B-0F85-C1FB-22530ED8CFB4}"/>
              </a:ext>
            </a:extLst>
          </p:cNvPr>
          <p:cNvSpPr/>
          <p:nvPr/>
        </p:nvSpPr>
        <p:spPr>
          <a:xfrm>
            <a:off x="4572000" y="4381500"/>
            <a:ext cx="18415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Spark
Distributed batch enrichment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89CF02-288D-3F25-6669-14915097F473}"/>
              </a:ext>
            </a:extLst>
          </p:cNvPr>
          <p:cNvSpPr/>
          <p:nvPr/>
        </p:nvSpPr>
        <p:spPr>
          <a:xfrm>
            <a:off x="6540500" y="4381500"/>
            <a:ext cx="18415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00" b="1">
                <a:solidFill>
                  <a:srgbClr val="111827"/>
                </a:solidFill>
                <a:latin typeface="Arial" panose="020B0604020202020204" pitchFamily="34" charset="0"/>
              </a:rPr>
              <a:t>dbt
Tested SQL business models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19ADDD-CFC7-E24A-6634-BDE77BF91020}"/>
              </a:ext>
            </a:extLst>
          </p:cNvPr>
          <p:cNvSpPr txBox="1"/>
          <p:nvPr/>
        </p:nvSpPr>
        <p:spPr>
          <a:xfrm>
            <a:off x="571500" y="4978400"/>
            <a:ext cx="787400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580">
                <a:solidFill>
                  <a:srgbClr val="4B5563"/>
                </a:solidFill>
                <a:latin typeface="Arial" panose="020B0604020202020204" pitchFamily="34" charset="0"/>
              </a:rPr>
              <a:t>Sources: MinIO docs, Apache Iceberg docs, Apache Spark docs, dbt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581222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32;p12">
            <a:extLst>
              <a:ext uri="{FF2B5EF4-FFF2-40B4-BE49-F238E27FC236}">
                <a16:creationId xmlns:a16="http://schemas.microsoft.com/office/drawing/2014/main" id="{FA000F93-088A-99A6-F702-15C5B52C958D}"/>
              </a:ext>
            </a:extLst>
          </p:cNvPr>
          <p:cNvSpPr/>
          <p:nvPr/>
        </p:nvSpPr>
        <p:spPr>
          <a:xfrm>
            <a:off x="0" y="0"/>
            <a:ext cx="9144000" cy="525882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904D5-C85C-35F0-63BE-26FECC1731D9}"/>
              </a:ext>
            </a:extLst>
          </p:cNvPr>
          <p:cNvSpPr txBox="1"/>
          <p:nvPr/>
        </p:nvSpPr>
        <p:spPr>
          <a:xfrm>
            <a:off x="7696200" y="348427"/>
            <a:ext cx="2286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 b="1" dirty="0">
                <a:solidFill>
                  <a:schemeClr val="bg1"/>
                </a:solidFill>
                <a:latin typeface="Arial" panose="020B0604020202020204" pitchFamily="34" charset="0"/>
              </a:rPr>
              <a:t>SERVING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078DA-BCD7-54FB-B1F4-A19951BAEFC5}"/>
              </a:ext>
            </a:extLst>
          </p:cNvPr>
          <p:cNvSpPr txBox="1"/>
          <p:nvPr/>
        </p:nvSpPr>
        <p:spPr>
          <a:xfrm>
            <a:off x="292100" y="-31369"/>
            <a:ext cx="8255000" cy="5693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50" b="1" dirty="0" err="1">
                <a:solidFill>
                  <a:schemeClr val="bg1"/>
                </a:solidFill>
                <a:latin typeface="Arial" panose="020B0604020202020204" pitchFamily="34" charset="0"/>
              </a:rPr>
              <a:t>ClickHouse</a:t>
            </a:r>
            <a:r>
              <a:rPr lang="en-US" sz="1850" b="1" dirty="0">
                <a:solidFill>
                  <a:schemeClr val="bg1"/>
                </a:solidFill>
                <a:latin typeface="Arial" panose="020B0604020202020204" pitchFamily="34" charset="0"/>
              </a:rPr>
              <a:t> and Superset serve business users; Prometheus and Grafana serve engineers.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3E9C7-3E6C-5D29-BE26-58DFC1BE2280}"/>
              </a:ext>
            </a:extLst>
          </p:cNvPr>
          <p:cNvSpPr txBox="1"/>
          <p:nvPr/>
        </p:nvSpPr>
        <p:spPr>
          <a:xfrm>
            <a:off x="419100" y="760949"/>
            <a:ext cx="8064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00" dirty="0" err="1">
                <a:solidFill>
                  <a:srgbClr val="4B5563"/>
                </a:solidFill>
                <a:latin typeface="Arial" panose="020B0604020202020204" pitchFamily="34" charset="0"/>
              </a:rPr>
              <a:t>FinStream</a:t>
            </a:r>
            <a:r>
              <a:rPr lang="en-US" sz="1800" dirty="0">
                <a:solidFill>
                  <a:srgbClr val="4B5563"/>
                </a:solidFill>
                <a:latin typeface="Arial" panose="020B0604020202020204" pitchFamily="34" charset="0"/>
              </a:rPr>
              <a:t> needs two visibility surfaces: financial intelligence dashboards and platform health dashboards.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1BCE15-1646-E1B1-25EB-2C0027D8F329}"/>
              </a:ext>
            </a:extLst>
          </p:cNvPr>
          <p:cNvSpPr/>
          <p:nvPr/>
        </p:nvSpPr>
        <p:spPr>
          <a:xfrm>
            <a:off x="660400" y="1803400"/>
            <a:ext cx="3632200" cy="19812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20" b="1">
                <a:solidFill>
                  <a:srgbClr val="111827"/>
                </a:solidFill>
                <a:latin typeface="Arial" panose="020B0604020202020204" pitchFamily="34" charset="0"/>
              </a:rPr>
              <a:t>Business analytics
ClickHouse receives curated/live analytics tables for fast SQL over alerts, fraud outcomes, risk profiles, and market signals.
Superset turns those tables into analyst-facing dashboards.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D2827D-60B7-8331-3115-CE5FE2FE5C41}"/>
              </a:ext>
            </a:extLst>
          </p:cNvPr>
          <p:cNvSpPr/>
          <p:nvPr/>
        </p:nvSpPr>
        <p:spPr>
          <a:xfrm>
            <a:off x="660400" y="1752600"/>
            <a:ext cx="3632200" cy="63500"/>
          </a:xfrm>
          <a:prstGeom prst="rect">
            <a:avLst/>
          </a:prstGeom>
          <a:solidFill>
            <a:srgbClr val="7030A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745D7F-E21E-0E10-A00B-36754FE08BE6}"/>
              </a:ext>
            </a:extLst>
          </p:cNvPr>
          <p:cNvSpPr/>
          <p:nvPr/>
        </p:nvSpPr>
        <p:spPr>
          <a:xfrm>
            <a:off x="4851400" y="1803400"/>
            <a:ext cx="3632200" cy="19812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920" b="1">
                <a:solidFill>
                  <a:srgbClr val="111827"/>
                </a:solidFill>
                <a:latin typeface="Arial" panose="020B0604020202020204" pitchFamily="34" charset="0"/>
              </a:rPr>
              <a:t>Operational observability
Prometheus captures service and pipeline metrics: throughput, lag, failures, latency, and resource health.
Grafana visualizes whether the platform is meeting the &lt;100ms target.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4FC96E-2203-A05D-F068-68A5E9ED0524}"/>
              </a:ext>
            </a:extLst>
          </p:cNvPr>
          <p:cNvSpPr/>
          <p:nvPr/>
        </p:nvSpPr>
        <p:spPr>
          <a:xfrm>
            <a:off x="4851400" y="1752600"/>
            <a:ext cx="3632200" cy="63500"/>
          </a:xfrm>
          <a:prstGeom prst="rect">
            <a:avLst/>
          </a:prstGeom>
          <a:solidFill>
            <a:srgbClr val="26A69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B11CF3-5135-A5E4-9F93-5AEC994E305D}"/>
              </a:ext>
            </a:extLst>
          </p:cNvPr>
          <p:cNvSpPr/>
          <p:nvPr/>
        </p:nvSpPr>
        <p:spPr>
          <a:xfrm>
            <a:off x="914400" y="4089400"/>
            <a:ext cx="1651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80" b="1">
                <a:solidFill>
                  <a:srgbClr val="111827"/>
                </a:solidFill>
                <a:latin typeface="Arial" panose="020B0604020202020204" pitchFamily="34" charset="0"/>
              </a:rPr>
              <a:t>ClickHouse
Real-time analytics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6A7B85-86FE-7FAE-2CD6-1F483FBC7CBD}"/>
              </a:ext>
            </a:extLst>
          </p:cNvPr>
          <p:cNvSpPr/>
          <p:nvPr/>
        </p:nvSpPr>
        <p:spPr>
          <a:xfrm>
            <a:off x="2768600" y="4089400"/>
            <a:ext cx="1651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80" b="1">
                <a:solidFill>
                  <a:srgbClr val="111827"/>
                </a:solidFill>
                <a:latin typeface="Arial" panose="020B0604020202020204" pitchFamily="34" charset="0"/>
              </a:rPr>
              <a:t>Superset
Business dashboards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13DF05-B631-DB68-5CE7-DF0BF18EA674}"/>
              </a:ext>
            </a:extLst>
          </p:cNvPr>
          <p:cNvSpPr/>
          <p:nvPr/>
        </p:nvSpPr>
        <p:spPr>
          <a:xfrm>
            <a:off x="4724400" y="4089400"/>
            <a:ext cx="1651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80" b="1">
                <a:solidFill>
                  <a:srgbClr val="111827"/>
                </a:solidFill>
                <a:latin typeface="Arial" panose="020B0604020202020204" pitchFamily="34" charset="0"/>
              </a:rPr>
              <a:t>Prometheus
Pipeline metrics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410B46-CB82-9B41-3BED-E073C0F7F6B3}"/>
              </a:ext>
            </a:extLst>
          </p:cNvPr>
          <p:cNvSpPr/>
          <p:nvPr/>
        </p:nvSpPr>
        <p:spPr>
          <a:xfrm>
            <a:off x="6578600" y="4089400"/>
            <a:ext cx="1651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780" b="1">
                <a:solidFill>
                  <a:srgbClr val="111827"/>
                </a:solidFill>
                <a:latin typeface="Arial" panose="020B0604020202020204" pitchFamily="34" charset="0"/>
              </a:rPr>
              <a:t>Grafana
Ops dashboards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AAB1DA-2FA0-0150-62FA-0DB7C6D446C7}"/>
              </a:ext>
            </a:extLst>
          </p:cNvPr>
          <p:cNvSpPr txBox="1"/>
          <p:nvPr/>
        </p:nvSpPr>
        <p:spPr>
          <a:xfrm>
            <a:off x="571500" y="4978400"/>
            <a:ext cx="787400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580">
                <a:solidFill>
                  <a:srgbClr val="4B5563"/>
                </a:solidFill>
                <a:latin typeface="Arial" panose="020B0604020202020204" pitchFamily="34" charset="0"/>
              </a:rPr>
              <a:t>Sources: ClickHouse real-time analytics page; Apache Superset docs; Prometheus/Grafana project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994211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32;p12">
            <a:extLst>
              <a:ext uri="{FF2B5EF4-FFF2-40B4-BE49-F238E27FC236}">
                <a16:creationId xmlns:a16="http://schemas.microsoft.com/office/drawing/2014/main" id="{1C3F18CB-5D9C-B01E-0EA1-9D00EC7BFDDA}"/>
              </a:ext>
            </a:extLst>
          </p:cNvPr>
          <p:cNvSpPr/>
          <p:nvPr/>
        </p:nvSpPr>
        <p:spPr>
          <a:xfrm>
            <a:off x="0" y="-56388"/>
            <a:ext cx="9144000" cy="525882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13511-5796-5010-24CC-7233A6552194}"/>
              </a:ext>
            </a:extLst>
          </p:cNvPr>
          <p:cNvSpPr txBox="1"/>
          <p:nvPr/>
        </p:nvSpPr>
        <p:spPr>
          <a:xfrm>
            <a:off x="7959436" y="329664"/>
            <a:ext cx="1278082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 b="1" dirty="0">
                <a:solidFill>
                  <a:schemeClr val="bg1"/>
                </a:solidFill>
                <a:latin typeface="Arial" panose="020B0604020202020204" pitchFamily="34" charset="0"/>
              </a:rPr>
              <a:t>PRODUCTION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30CED-6DB2-878D-D49C-FF7D397379C9}"/>
              </a:ext>
            </a:extLst>
          </p:cNvPr>
          <p:cNvSpPr txBox="1"/>
          <p:nvPr/>
        </p:nvSpPr>
        <p:spPr>
          <a:xfrm>
            <a:off x="277091" y="-56388"/>
            <a:ext cx="8255000" cy="5693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850" b="1" dirty="0">
                <a:solidFill>
                  <a:schemeClr val="bg1"/>
                </a:solidFill>
                <a:latin typeface="Arial" panose="020B0604020202020204" pitchFamily="34" charset="0"/>
              </a:rPr>
              <a:t>Airflow, Docker, and Great Expectations turn the project into a repeatable platform.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F3902-E410-C9FE-3F3F-FDF92C8184C9}"/>
              </a:ext>
            </a:extLst>
          </p:cNvPr>
          <p:cNvSpPr txBox="1"/>
          <p:nvPr/>
        </p:nvSpPr>
        <p:spPr>
          <a:xfrm>
            <a:off x="584200" y="1371600"/>
            <a:ext cx="8064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20">
                <a:solidFill>
                  <a:srgbClr val="4B5563"/>
                </a:solidFill>
                <a:latin typeface="Arial" panose="020B0604020202020204" pitchFamily="34" charset="0"/>
              </a:rPr>
              <a:t>This is what moves the proposal from a demo pipeline toward an enterprise-style data engineering system.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B34C37-6935-9A9F-E1F6-165C3F89DD9D}"/>
              </a:ext>
            </a:extLst>
          </p:cNvPr>
          <p:cNvSpPr/>
          <p:nvPr/>
        </p:nvSpPr>
        <p:spPr>
          <a:xfrm>
            <a:off x="660400" y="1854200"/>
            <a:ext cx="2286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000" b="1" dirty="0">
                <a:solidFill>
                  <a:srgbClr val="111827"/>
                </a:solidFill>
                <a:latin typeface="Arial" panose="020B0604020202020204" pitchFamily="34" charset="0"/>
              </a:rPr>
              <a:t>Airflow
Schedule and monitor batch workflows, backfills, </a:t>
            </a:r>
            <a:r>
              <a:rPr lang="en-US" sz="1000" b="1" dirty="0" err="1">
                <a:solidFill>
                  <a:srgbClr val="111827"/>
                </a:solidFill>
                <a:latin typeface="Arial" panose="020B0604020202020204" pitchFamily="34" charset="0"/>
              </a:rPr>
              <a:t>dbt</a:t>
            </a:r>
            <a:r>
              <a:rPr lang="en-US" sz="1000" b="1" dirty="0">
                <a:solidFill>
                  <a:srgbClr val="111827"/>
                </a:solidFill>
                <a:latin typeface="Arial" panose="020B0604020202020204" pitchFamily="34" charset="0"/>
              </a:rPr>
              <a:t> runs, quality checks, and training jobs.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A4708F-A3FE-509F-DE25-26F7554E4B27}"/>
              </a:ext>
            </a:extLst>
          </p:cNvPr>
          <p:cNvSpPr/>
          <p:nvPr/>
        </p:nvSpPr>
        <p:spPr>
          <a:xfrm>
            <a:off x="660400" y="1803400"/>
            <a:ext cx="2286000" cy="63500"/>
          </a:xfrm>
          <a:prstGeom prst="rect">
            <a:avLst/>
          </a:prstGeom>
          <a:solidFill>
            <a:srgbClr val="4472C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672E71-81BD-B262-774C-5E65A9E3C24C}"/>
              </a:ext>
            </a:extLst>
          </p:cNvPr>
          <p:cNvSpPr/>
          <p:nvPr/>
        </p:nvSpPr>
        <p:spPr>
          <a:xfrm>
            <a:off x="6312786" y="1841500"/>
            <a:ext cx="2286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88900" rIns="101600" bIns="88900" rtlCol="0" anchor="ctr"/>
          <a:lstStyle/>
          <a:p>
            <a:pPr algn="ctr"/>
            <a:r>
              <a:rPr lang="en-US" sz="1000" b="1" dirty="0">
                <a:solidFill>
                  <a:srgbClr val="111827"/>
                </a:solidFill>
                <a:latin typeface="Arial" panose="020B0604020202020204" pitchFamily="34" charset="0"/>
              </a:rPr>
              <a:t>Docker
Package services consistently so Kafka, </a:t>
            </a:r>
            <a:r>
              <a:rPr lang="en-US" sz="1000" b="1" dirty="0" err="1">
                <a:solidFill>
                  <a:srgbClr val="111827"/>
                </a:solidFill>
                <a:latin typeface="Arial" panose="020B0604020202020204" pitchFamily="34" charset="0"/>
              </a:rPr>
              <a:t>Flink</a:t>
            </a:r>
            <a:r>
              <a:rPr lang="en-US" sz="1000" b="1" dirty="0">
                <a:solidFill>
                  <a:srgbClr val="111827"/>
                </a:solidFill>
                <a:latin typeface="Arial" panose="020B0604020202020204" pitchFamily="34" charset="0"/>
              </a:rPr>
              <a:t>, Spark, </a:t>
            </a:r>
            <a:r>
              <a:rPr lang="en-US" sz="1000" b="1" dirty="0" err="1">
                <a:solidFill>
                  <a:srgbClr val="111827"/>
                </a:solidFill>
                <a:latin typeface="Arial" panose="020B0604020202020204" pitchFamily="34" charset="0"/>
              </a:rPr>
              <a:t>MinIO</a:t>
            </a:r>
            <a:r>
              <a:rPr lang="en-US" sz="1000" b="1" dirty="0">
                <a:solidFill>
                  <a:srgbClr val="111827"/>
                </a:solidFill>
                <a:latin typeface="Arial" panose="020B0604020202020204" pitchFamily="34" charset="0"/>
              </a:rPr>
              <a:t>, Redis, </a:t>
            </a:r>
            <a:r>
              <a:rPr lang="en-US" sz="1000" b="1" dirty="0" err="1">
                <a:solidFill>
                  <a:srgbClr val="111827"/>
                </a:solidFill>
                <a:latin typeface="Arial" panose="020B0604020202020204" pitchFamily="34" charset="0"/>
              </a:rPr>
              <a:t>ClickHouse</a:t>
            </a:r>
            <a:r>
              <a:rPr lang="en-US" sz="1000" b="1" dirty="0">
                <a:solidFill>
                  <a:srgbClr val="111827"/>
                </a:solidFill>
                <a:latin typeface="Arial" panose="020B0604020202020204" pitchFamily="34" charset="0"/>
              </a:rPr>
              <a:t>, and Superset run as one reproducible environment.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C73778-8136-469F-B3BF-ED0AB2D78204}"/>
              </a:ext>
            </a:extLst>
          </p:cNvPr>
          <p:cNvSpPr/>
          <p:nvPr/>
        </p:nvSpPr>
        <p:spPr>
          <a:xfrm>
            <a:off x="6312786" y="1790700"/>
            <a:ext cx="2286000" cy="63500"/>
          </a:xfrm>
          <a:prstGeom prst="rect">
            <a:avLst/>
          </a:prstGeom>
          <a:solidFill>
            <a:srgbClr val="26A69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652A6-10E3-F7BF-7802-23CCB2E387E1}"/>
              </a:ext>
            </a:extLst>
          </p:cNvPr>
          <p:cNvSpPr txBox="1"/>
          <p:nvPr/>
        </p:nvSpPr>
        <p:spPr>
          <a:xfrm>
            <a:off x="571500" y="4978400"/>
            <a:ext cx="787400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580">
                <a:solidFill>
                  <a:srgbClr val="4B5563"/>
                </a:solidFill>
                <a:latin typeface="Arial" panose="020B0604020202020204" pitchFamily="34" charset="0"/>
              </a:rPr>
              <a:t>Sources: Apache Airflow docs; Docker docs; Great Expectations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462586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FinStream — Real-Time Financial Intelligence Platform</a:t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457200" y="2331720"/>
            <a:ext cx="7772400" cy="36576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457200" y="2587752"/>
            <a:ext cx="164592" cy="164592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713232" y="25146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fraud detection at &lt;100ms</a:t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457200" y="3063240"/>
            <a:ext cx="164592" cy="164592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713232" y="299008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Medallion lakehouse with Iceberg + MinIO</a:t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457200" y="3538728"/>
            <a:ext cx="164592" cy="164592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713232" y="346557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Lambda architecture: Flink + Spark</a:t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4754880" y="2587752"/>
            <a:ext cx="164592" cy="164592"/>
          </a:xfrm>
          <a:prstGeom prst="ellipse">
            <a:avLst/>
          </a:prstGeom>
          <a:solidFill>
            <a:srgbClr val="9B5DE5"/>
          </a:solidFill>
          <a:ln w="12700" cap="flat" cmpd="sng">
            <a:solidFill>
              <a:srgbClr val="9B5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5010912" y="25146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MLOps with MLflow model registry</a:t>
            </a: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4754880" y="3063240"/>
            <a:ext cx="164592" cy="164592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5010912" y="299008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CI/CD, Docker, Airflow, Prometheus</a:t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4754880" y="3538728"/>
            <a:ext cx="164592" cy="164592"/>
          </a:xfrm>
          <a:prstGeom prst="ellipse">
            <a:avLst/>
          </a:prstGeom>
          <a:solidFill>
            <a:srgbClr val="C8DCFA"/>
          </a:solidFill>
          <a:ln w="12700" cap="flat" cmpd="sng">
            <a:solidFill>
              <a:srgbClr val="C8DC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5010912" y="346557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of 6, clearly distributed ownership</a:t>
            </a: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: Rounded Corners 2">
            <a:hlinkClick r:id="rId3"/>
            <a:extLst>
              <a:ext uri="{FF2B5EF4-FFF2-40B4-BE49-F238E27FC236}">
                <a16:creationId xmlns:a16="http://schemas.microsoft.com/office/drawing/2014/main" id="{459356AD-F85F-EE3F-DFD2-96800ABD0902}"/>
              </a:ext>
            </a:extLst>
          </p:cNvPr>
          <p:cNvSpPr/>
          <p:nvPr/>
        </p:nvSpPr>
        <p:spPr>
          <a:xfrm>
            <a:off x="6172200" y="4000500"/>
            <a:ext cx="2387600" cy="7366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D351F4E0-551D-F8B6-0A3F-0855306954B5}"/>
              </a:ext>
            </a:extLst>
          </p:cNvPr>
          <p:cNvSpPr txBox="1"/>
          <p:nvPr/>
        </p:nvSpPr>
        <p:spPr>
          <a:xfrm>
            <a:off x="6324600" y="4165600"/>
            <a:ext cx="1498600" cy="2646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60" b="1">
                <a:solidFill>
                  <a:srgbClr val="0C1737"/>
                </a:solidFill>
                <a:latin typeface="Arial" panose="020B0604020202020204" pitchFamily="34" charset="0"/>
              </a:rPr>
              <a:t>Project workspace
Notion Engineering Hub</a:t>
            </a:r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6C1D4843-EAFD-4FE1-D608-5FEECA3E243E}"/>
              </a:ext>
            </a:extLst>
          </p:cNvPr>
          <p:cNvSpPr txBox="1"/>
          <p:nvPr/>
        </p:nvSpPr>
        <p:spPr>
          <a:xfrm>
            <a:off x="6324600" y="4457700"/>
            <a:ext cx="1498600" cy="784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510">
                <a:solidFill>
                  <a:srgbClr val="475569"/>
                </a:solidFill>
                <a:latin typeface="Arial" panose="020B0604020202020204" pitchFamily="34" charset="0"/>
              </a:rPr>
              <a:t>Click or scan: docs, roles, timeline, execution plan</a:t>
            </a:r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DAF402DE-54EF-3745-2CD9-F1558D6D508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950200" y="4127500"/>
            <a:ext cx="482600" cy="482600"/>
          </a:xfrm>
          <a:prstGeom prst="rect">
            <a:avLst/>
          </a:prstGeom>
        </p:spPr>
      </p:pic>
      <p:pic>
        <p:nvPicPr>
          <p:cNvPr id="6" name="Picture 4" descr="How To add Colorful Notion Icons to Your Pages - Driveway">
            <a:extLst>
              <a:ext uri="{FF2B5EF4-FFF2-40B4-BE49-F238E27FC236}">
                <a16:creationId xmlns:a16="http://schemas.microsoft.com/office/drawing/2014/main" id="{B3D37B16-D529-D1EE-60A7-E22F07487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920" y="4165600"/>
            <a:ext cx="886680" cy="46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2799</Words>
  <Application>Microsoft Office PowerPoint</Application>
  <PresentationFormat>On-screen Show (16:9)</PresentationFormat>
  <Paragraphs>372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Arial Black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mostafa gamal</cp:lastModifiedBy>
  <cp:revision>9</cp:revision>
  <dcterms:created xsi:type="dcterms:W3CDTF">2026-04-25T13:57:42Z</dcterms:created>
  <dcterms:modified xsi:type="dcterms:W3CDTF">2026-05-10T11:28:38Z</dcterms:modified>
</cp:coreProperties>
</file>